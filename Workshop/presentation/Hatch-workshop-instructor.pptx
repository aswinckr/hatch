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5490a9b72043b7" /><Relationship Type="http://schemas.openxmlformats.org/officeDocument/2006/relationships/extended-properties" Target="/docProps/app.xml" Id="Re93e6901991c41a8" /><Relationship Type="http://schemas.openxmlformats.org/officeDocument/2006/relationships/officeDocument" Target="/ppt/presentation.xml" Id="R4ac8b5d5d66d4d1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57eb0c73eb144c2"/>
  </p:sldMasterIdLst>
  <p:notesMasterIdLst>
    <p:notesMasterId xmlns:r="http://schemas.openxmlformats.org/officeDocument/2006/relationships" r:id="Rfc1eec71c5b64b14"/>
  </p:notesMasterIdLst>
  <p:sldIdLst>
    <p:sldId xmlns:r="http://schemas.openxmlformats.org/officeDocument/2006/relationships" id="256" r:id="Rff2276e59e8046ee"/>
    <p:sldId xmlns:r="http://schemas.openxmlformats.org/officeDocument/2006/relationships" id="257" r:id="R626e8e9828784f9f"/>
    <p:sldId xmlns:r="http://schemas.openxmlformats.org/officeDocument/2006/relationships" id="258" r:id="Rd661be4c582a4d26"/>
    <p:sldId xmlns:r="http://schemas.openxmlformats.org/officeDocument/2006/relationships" id="259" r:id="R52231be41bae4eb5"/>
    <p:sldId xmlns:r="http://schemas.openxmlformats.org/officeDocument/2006/relationships" id="260" r:id="R1d6edab1630848a0"/>
    <p:sldId xmlns:r="http://schemas.openxmlformats.org/officeDocument/2006/relationships" id="261" r:id="R38cf40e057e3476f"/>
    <p:sldId xmlns:r="http://schemas.openxmlformats.org/officeDocument/2006/relationships" id="262" r:id="R26b48f3f4b6a4396"/>
    <p:sldId xmlns:r="http://schemas.openxmlformats.org/officeDocument/2006/relationships" id="263" r:id="Rb555e9aad53749f2"/>
    <p:sldId xmlns:r="http://schemas.openxmlformats.org/officeDocument/2006/relationships" id="264" r:id="Rb88dcead95b144d3"/>
    <p:sldId xmlns:r="http://schemas.openxmlformats.org/officeDocument/2006/relationships" id="265" r:id="R3153f8df0f174798"/>
    <p:sldId xmlns:r="http://schemas.openxmlformats.org/officeDocument/2006/relationships" id="266" r:id="R78407236d34e405d"/>
    <p:sldId xmlns:r="http://schemas.openxmlformats.org/officeDocument/2006/relationships" id="267" r:id="R8d4bfcd515fa48ae"/>
    <p:sldId xmlns:r="http://schemas.openxmlformats.org/officeDocument/2006/relationships" id="268" r:id="R5b0e59a9e2b24b07"/>
    <p:sldId xmlns:r="http://schemas.openxmlformats.org/officeDocument/2006/relationships" id="269" r:id="R9c95bb3ea28447a1"/>
    <p:sldId xmlns:r="http://schemas.openxmlformats.org/officeDocument/2006/relationships" id="270" r:id="Ra66f97c742364f82"/>
    <p:sldId xmlns:r="http://schemas.openxmlformats.org/officeDocument/2006/relationships" id="271" r:id="R894c3f1a361549be"/>
    <p:sldId xmlns:r="http://schemas.openxmlformats.org/officeDocument/2006/relationships" id="272" r:id="R791c3444a7d94a1b"/>
    <p:sldId xmlns:r="http://schemas.openxmlformats.org/officeDocument/2006/relationships" id="273" r:id="Re82d825e03b54e27"/>
    <p:sldId xmlns:r="http://schemas.openxmlformats.org/officeDocument/2006/relationships" id="274" r:id="Rcc8b4dc65f904c3b"/>
    <p:sldId xmlns:r="http://schemas.openxmlformats.org/officeDocument/2006/relationships" id="275" r:id="R5be6ca199b3b4343"/>
    <p:sldId xmlns:r="http://schemas.openxmlformats.org/officeDocument/2006/relationships" id="276" r:id="R82862162cd8344da"/>
    <p:sldId xmlns:r="http://schemas.openxmlformats.org/officeDocument/2006/relationships" id="277" r:id="Rf26111fb99bc44d9"/>
    <p:sldId xmlns:r="http://schemas.openxmlformats.org/officeDocument/2006/relationships" id="278" r:id="Rc5fa9d22d5944631"/>
    <p:sldId xmlns:r="http://schemas.openxmlformats.org/officeDocument/2006/relationships" id="279" r:id="Rf26f8dce07204976"/>
    <p:sldId xmlns:r="http://schemas.openxmlformats.org/officeDocument/2006/relationships" id="280" r:id="R797ef8d7519d4cbc"/>
    <p:sldId xmlns:r="http://schemas.openxmlformats.org/officeDocument/2006/relationships" id="281" r:id="R1bb8dbfdf5504f91"/>
    <p:sldId xmlns:r="http://schemas.openxmlformats.org/officeDocument/2006/relationships" id="282" r:id="R2f29bb3e0610410e"/>
    <p:sldId xmlns:r="http://schemas.openxmlformats.org/officeDocument/2006/relationships" id="283" r:id="Rd83e25d517be447d"/>
    <p:sldId xmlns:r="http://schemas.openxmlformats.org/officeDocument/2006/relationships" id="284" r:id="Rf7d7cf9cac8b4ea1"/>
    <p:sldId xmlns:r="http://schemas.openxmlformats.org/officeDocument/2006/relationships" id="285" r:id="Rcdf23a7b59fc400d"/>
    <p:sldId xmlns:r="http://schemas.openxmlformats.org/officeDocument/2006/relationships" id="286" r:id="R06a6aa8da7034e65"/>
    <p:sldId xmlns:r="http://schemas.openxmlformats.org/officeDocument/2006/relationships" id="287" r:id="R4c598f143f9741bb"/>
    <p:sldId xmlns:r="http://schemas.openxmlformats.org/officeDocument/2006/relationships" id="288" r:id="R05eb02d1bb074653"/>
    <p:sldId xmlns:r="http://schemas.openxmlformats.org/officeDocument/2006/relationships" id="289" r:id="R1b95fd826bac4dd4"/>
    <p:sldId xmlns:r="http://schemas.openxmlformats.org/officeDocument/2006/relationships" id="290" r:id="R0b3e09ab4d714b33"/>
    <p:sldId xmlns:r="http://schemas.openxmlformats.org/officeDocument/2006/relationships" id="291" r:id="R963cdf8ac0874347"/>
    <p:sldId xmlns:r="http://schemas.openxmlformats.org/officeDocument/2006/relationships" id="292" r:id="Rb8f86996320046a3"/>
    <p:sldId xmlns:r="http://schemas.openxmlformats.org/officeDocument/2006/relationships" id="293" r:id="R6b5c5c25fe504124"/>
    <p:sldId xmlns:r="http://schemas.openxmlformats.org/officeDocument/2006/relationships" id="294" r:id="R55a71e992bc74a77"/>
    <p:sldId xmlns:r="http://schemas.openxmlformats.org/officeDocument/2006/relationships" id="295" r:id="R96d69ba9313d46b5"/>
    <p:sldId xmlns:r="http://schemas.openxmlformats.org/officeDocument/2006/relationships" id="296" r:id="R86275f860a6742f0"/>
    <p:sldId xmlns:r="http://schemas.openxmlformats.org/officeDocument/2006/relationships" id="297" r:id="Rd90bab48d14346c6"/>
    <p:sldId xmlns:r="http://schemas.openxmlformats.org/officeDocument/2006/relationships" id="298" r:id="Rebe9cda9f9ea405d"/>
    <p:sldId xmlns:r="http://schemas.openxmlformats.org/officeDocument/2006/relationships" id="299" r:id="R5328200317634bb6"/>
    <p:sldId xmlns:r="http://schemas.openxmlformats.org/officeDocument/2006/relationships" id="300" r:id="R5211121799c64a93"/>
    <p:sldId xmlns:r="http://schemas.openxmlformats.org/officeDocument/2006/relationships" id="301" r:id="Raf7a8d8c1a9d4e96"/>
    <p:sldId xmlns:r="http://schemas.openxmlformats.org/officeDocument/2006/relationships" id="302" r:id="Rffcffe34a1094112"/>
    <p:sldId xmlns:r="http://schemas.openxmlformats.org/officeDocument/2006/relationships" id="303" r:id="R659430a52fb54e04"/>
    <p:sldId xmlns:r="http://schemas.openxmlformats.org/officeDocument/2006/relationships" id="304" r:id="Rb449655704cb4aa9"/>
    <p:sldId xmlns:r="http://schemas.openxmlformats.org/officeDocument/2006/relationships" id="305" r:id="R99038e71c4154592"/>
    <p:sldId xmlns:r="http://schemas.openxmlformats.org/officeDocument/2006/relationships" id="306" r:id="R098e9dc051544b21"/>
  </p:sldIdLst>
  <p:sldSz cx="9144000" cy="5143500"/>
  <p:notesSz cx="6858000" cy="9144000"/>
  <p:embeddedFontLst>
    <p:embeddedFont>
      <p:font typeface="Instrument Serif"/>
      <p:regular xmlns:r="http://schemas.openxmlformats.org/officeDocument/2006/relationships" r:id="R8f42e052da424cfc"/>
      <p:italic xmlns:r="http://schemas.openxmlformats.org/officeDocument/2006/relationships" r:id="R637eb2f3c1ec499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a7afc0a97154619" /><Relationship Type="http://schemas.openxmlformats.org/officeDocument/2006/relationships/slideMaster" Target="/ppt/slideMasters/slideMaster1.xml" Id="R757eb0c73eb144c2" /><Relationship Type="http://schemas.openxmlformats.org/officeDocument/2006/relationships/notesMaster" Target="/ppt/notesMasters/notesMaster1.xml" Id="Rfc1eec71c5b64b14" /><Relationship Type="http://schemas.openxmlformats.org/officeDocument/2006/relationships/presProps" Target="/ppt/presProps.xml" Id="R3a011c6d5eb14d26" /><Relationship Type="http://schemas.openxmlformats.org/officeDocument/2006/relationships/viewProps" Target="/ppt/viewProps.xml" Id="R3a52d1b17d7044ad" /><Relationship Type="http://schemas.openxmlformats.org/officeDocument/2006/relationships/tableStyles" Target="/ppt/tableStyles.xml" Id="R9a6331dd6d3d4de4" /><Relationship Type="http://schemas.openxmlformats.org/officeDocument/2006/relationships/font" Target="/ppt/fonts/font.dat" Id="R8f42e052da424cfc" /><Relationship Type="http://schemas.openxmlformats.org/officeDocument/2006/relationships/font" Target="/ppt/fonts/font2.dat" Id="R637eb2f3c1ec4992" /><Relationship Type="http://schemas.openxmlformats.org/officeDocument/2006/relationships/slide" Target="/ppt/slides/slide1.xml" Id="Rff2276e59e8046ee" /><Relationship Type="http://schemas.openxmlformats.org/officeDocument/2006/relationships/slide" Target="/ppt/slides/slide2.xml" Id="R626e8e9828784f9f" /><Relationship Type="http://schemas.openxmlformats.org/officeDocument/2006/relationships/slide" Target="/ppt/slides/slide3.xml" Id="Rd661be4c582a4d26" /><Relationship Type="http://schemas.openxmlformats.org/officeDocument/2006/relationships/slide" Target="/ppt/slides/slide4.xml" Id="R52231be41bae4eb5" /><Relationship Type="http://schemas.openxmlformats.org/officeDocument/2006/relationships/slide" Target="/ppt/slides/slide5.xml" Id="R1d6edab1630848a0" /><Relationship Type="http://schemas.openxmlformats.org/officeDocument/2006/relationships/slide" Target="/ppt/slides/slide6.xml" Id="R38cf40e057e3476f" /><Relationship Type="http://schemas.openxmlformats.org/officeDocument/2006/relationships/slide" Target="/ppt/slides/slide7.xml" Id="R26b48f3f4b6a4396" /><Relationship Type="http://schemas.openxmlformats.org/officeDocument/2006/relationships/slide" Target="/ppt/slides/slide8.xml" Id="Rb555e9aad53749f2" /><Relationship Type="http://schemas.openxmlformats.org/officeDocument/2006/relationships/slide" Target="/ppt/slides/slide9.xml" Id="Rb88dcead95b144d3" /><Relationship Type="http://schemas.openxmlformats.org/officeDocument/2006/relationships/slide" Target="/ppt/slides/slide10.xml" Id="R3153f8df0f174798" /><Relationship Type="http://schemas.openxmlformats.org/officeDocument/2006/relationships/slide" Target="/ppt/slides/slide11.xml" Id="R78407236d34e405d" /><Relationship Type="http://schemas.openxmlformats.org/officeDocument/2006/relationships/slide" Target="/ppt/slides/slide12.xml" Id="R8d4bfcd515fa48ae" /><Relationship Type="http://schemas.openxmlformats.org/officeDocument/2006/relationships/slide" Target="/ppt/slides/slide13.xml" Id="R5b0e59a9e2b24b07" /><Relationship Type="http://schemas.openxmlformats.org/officeDocument/2006/relationships/slide" Target="/ppt/slides/slide14.xml" Id="R9c95bb3ea28447a1" /><Relationship Type="http://schemas.openxmlformats.org/officeDocument/2006/relationships/slide" Target="/ppt/slides/slide15.xml" Id="Ra66f97c742364f82" /><Relationship Type="http://schemas.openxmlformats.org/officeDocument/2006/relationships/slide" Target="/ppt/slides/slide16.xml" Id="R894c3f1a361549be" /><Relationship Type="http://schemas.openxmlformats.org/officeDocument/2006/relationships/slide" Target="/ppt/slides/slide17.xml" Id="R791c3444a7d94a1b" /><Relationship Type="http://schemas.openxmlformats.org/officeDocument/2006/relationships/slide" Target="/ppt/slides/slide18.xml" Id="Re82d825e03b54e27" /><Relationship Type="http://schemas.openxmlformats.org/officeDocument/2006/relationships/slide" Target="/ppt/slides/slide19.xml" Id="Rcc8b4dc65f904c3b" /><Relationship Type="http://schemas.openxmlformats.org/officeDocument/2006/relationships/slide" Target="/ppt/slides/slide20.xml" Id="R5be6ca199b3b4343" /><Relationship Type="http://schemas.openxmlformats.org/officeDocument/2006/relationships/slide" Target="/ppt/slides/slide21.xml" Id="R82862162cd8344da" /><Relationship Type="http://schemas.openxmlformats.org/officeDocument/2006/relationships/slide" Target="/ppt/slides/slide22.xml" Id="Rf26111fb99bc44d9" /><Relationship Type="http://schemas.openxmlformats.org/officeDocument/2006/relationships/slide" Target="/ppt/slides/slide23.xml" Id="Rc5fa9d22d5944631" /><Relationship Type="http://schemas.openxmlformats.org/officeDocument/2006/relationships/slide" Target="/ppt/slides/slide24.xml" Id="Rf26f8dce07204976" /><Relationship Type="http://schemas.openxmlformats.org/officeDocument/2006/relationships/slide" Target="/ppt/slides/slide25.xml" Id="R797ef8d7519d4cbc" /><Relationship Type="http://schemas.openxmlformats.org/officeDocument/2006/relationships/slide" Target="/ppt/slides/slide26.xml" Id="R1bb8dbfdf5504f91" /><Relationship Type="http://schemas.openxmlformats.org/officeDocument/2006/relationships/slide" Target="/ppt/slides/slide27.xml" Id="R2f29bb3e0610410e" /><Relationship Type="http://schemas.openxmlformats.org/officeDocument/2006/relationships/slide" Target="/ppt/slides/slide28.xml" Id="Rd83e25d517be447d" /><Relationship Type="http://schemas.openxmlformats.org/officeDocument/2006/relationships/slide" Target="/ppt/slides/slide29.xml" Id="Rf7d7cf9cac8b4ea1" /><Relationship Type="http://schemas.openxmlformats.org/officeDocument/2006/relationships/slide" Target="/ppt/slides/slide30.xml" Id="Rcdf23a7b59fc400d" /><Relationship Type="http://schemas.openxmlformats.org/officeDocument/2006/relationships/slide" Target="/ppt/slides/slide31.xml" Id="R06a6aa8da7034e65" /><Relationship Type="http://schemas.openxmlformats.org/officeDocument/2006/relationships/slide" Target="/ppt/slides/slide32.xml" Id="R4c598f143f9741bb" /><Relationship Type="http://schemas.openxmlformats.org/officeDocument/2006/relationships/slide" Target="/ppt/slides/slide33.xml" Id="R05eb02d1bb074653" /><Relationship Type="http://schemas.openxmlformats.org/officeDocument/2006/relationships/slide" Target="/ppt/slides/slide34.xml" Id="R1b95fd826bac4dd4" /><Relationship Type="http://schemas.openxmlformats.org/officeDocument/2006/relationships/slide" Target="/ppt/slides/slide35.xml" Id="R0b3e09ab4d714b33" /><Relationship Type="http://schemas.openxmlformats.org/officeDocument/2006/relationships/slide" Target="/ppt/slides/slide36.xml" Id="R963cdf8ac0874347" /><Relationship Type="http://schemas.openxmlformats.org/officeDocument/2006/relationships/slide" Target="/ppt/slides/slide37.xml" Id="Rb8f86996320046a3" /><Relationship Type="http://schemas.openxmlformats.org/officeDocument/2006/relationships/slide" Target="/ppt/slides/slide38.xml" Id="R6b5c5c25fe504124" /><Relationship Type="http://schemas.openxmlformats.org/officeDocument/2006/relationships/slide" Target="/ppt/slides/slide39.xml" Id="R55a71e992bc74a77" /><Relationship Type="http://schemas.openxmlformats.org/officeDocument/2006/relationships/slide" Target="/ppt/slides/slide40.xml" Id="R96d69ba9313d46b5" /><Relationship Type="http://schemas.openxmlformats.org/officeDocument/2006/relationships/slide" Target="/ppt/slides/slide41.xml" Id="R86275f860a6742f0" /><Relationship Type="http://schemas.openxmlformats.org/officeDocument/2006/relationships/slide" Target="/ppt/slides/slide42.xml" Id="Rd90bab48d14346c6" /><Relationship Type="http://schemas.openxmlformats.org/officeDocument/2006/relationships/slide" Target="/ppt/slides/slide43.xml" Id="Rebe9cda9f9ea405d" /><Relationship Type="http://schemas.openxmlformats.org/officeDocument/2006/relationships/slide" Target="/ppt/slides/slide44.xml" Id="R5328200317634bb6" /><Relationship Type="http://schemas.openxmlformats.org/officeDocument/2006/relationships/slide" Target="/ppt/slides/slide45.xml" Id="R5211121799c64a93" /><Relationship Type="http://schemas.openxmlformats.org/officeDocument/2006/relationships/slide" Target="/ppt/slides/slide46.xml" Id="Raf7a8d8c1a9d4e96" /><Relationship Type="http://schemas.openxmlformats.org/officeDocument/2006/relationships/slide" Target="/ppt/slides/slide47.xml" Id="Rffcffe34a1094112" /><Relationship Type="http://schemas.openxmlformats.org/officeDocument/2006/relationships/slide" Target="/ppt/slides/slide48.xml" Id="R659430a52fb54e04" /><Relationship Type="http://schemas.openxmlformats.org/officeDocument/2006/relationships/slide" Target="/ppt/slides/slide49.xml" Id="Rb449655704cb4aa9" /><Relationship Type="http://schemas.openxmlformats.org/officeDocument/2006/relationships/slide" Target="/ppt/slides/slide50.xml" Id="R99038e71c4154592" /><Relationship Type="http://schemas.openxmlformats.org/officeDocument/2006/relationships/slide" Target="/ppt/slides/slide51.xml" Id="R098e9dc051544b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1ac14eed444e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677021c6b24eea" /><Relationship Type="http://schemas.openxmlformats.org/officeDocument/2006/relationships/notesMaster" Target="/ppt/notesMasters/notesMaster1.xml" Id="R103b0d480aa144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a1442d810644d6" /><Relationship Type="http://schemas.openxmlformats.org/officeDocument/2006/relationships/notesMaster" Target="/ppt/notesMasters/notesMaster1.xml" Id="R8faebe1894c44a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c4454819f74bb2" /><Relationship Type="http://schemas.openxmlformats.org/officeDocument/2006/relationships/notesMaster" Target="/ppt/notesMasters/notesMaster1.xml" Id="Re8132676f0064b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fa49a028c34593" /><Relationship Type="http://schemas.openxmlformats.org/officeDocument/2006/relationships/notesMaster" Target="/ppt/notesMasters/notesMaster1.xml" Id="R4b7d58c9a2354b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a9d2b72a9a4bc0" /><Relationship Type="http://schemas.openxmlformats.org/officeDocument/2006/relationships/notesMaster" Target="/ppt/notesMasters/notesMaster1.xml" Id="Rf66ec046885b4a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4c09fbeba5444d" /><Relationship Type="http://schemas.openxmlformats.org/officeDocument/2006/relationships/notesMaster" Target="/ppt/notesMasters/notesMaster1.xml" Id="R3efa5148c50b40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dadd786e974e54" /><Relationship Type="http://schemas.openxmlformats.org/officeDocument/2006/relationships/notesMaster" Target="/ppt/notesMasters/notesMaster1.xml" Id="R4b4d10824d0541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7dea64b2c14cf2" /><Relationship Type="http://schemas.openxmlformats.org/officeDocument/2006/relationships/notesMaster" Target="/ppt/notesMasters/notesMaster1.xml" Id="Rb6c06fc5b5f142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27bab9ddc34e87" /><Relationship Type="http://schemas.openxmlformats.org/officeDocument/2006/relationships/notesMaster" Target="/ppt/notesMasters/notesMaster1.xml" Id="R42309c30effc42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48f4b9df374e2b" /><Relationship Type="http://schemas.openxmlformats.org/officeDocument/2006/relationships/notesMaster" Target="/ppt/notesMasters/notesMaster1.xml" Id="Rcf64c276e4fb4b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e3f106e2f54df8" /><Relationship Type="http://schemas.openxmlformats.org/officeDocument/2006/relationships/notesMaster" Target="/ppt/notesMasters/notesMaster1.xml" Id="Rc6253730d4d94b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69b0fbef754841" /><Relationship Type="http://schemas.openxmlformats.org/officeDocument/2006/relationships/notesMaster" Target="/ppt/notesMasters/notesMaster1.xml" Id="R3aee033e1b8145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7946591f654371" /><Relationship Type="http://schemas.openxmlformats.org/officeDocument/2006/relationships/notesMaster" Target="/ppt/notesMasters/notesMaster1.xml" Id="Refdb16b8e8e14f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7eb8f81d37433a" /><Relationship Type="http://schemas.openxmlformats.org/officeDocument/2006/relationships/notesMaster" Target="/ppt/notesMasters/notesMaster1.xml" Id="Rf45e965c859d46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d0364c375842f1" /><Relationship Type="http://schemas.openxmlformats.org/officeDocument/2006/relationships/notesMaster" Target="/ppt/notesMasters/notesMaster1.xml" Id="R5b5279c3860349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903b44106c40cd" /><Relationship Type="http://schemas.openxmlformats.org/officeDocument/2006/relationships/notesMaster" Target="/ppt/notesMasters/notesMaster1.xml" Id="R32ff3bfeafb1406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c9a64de4984dd6" /><Relationship Type="http://schemas.openxmlformats.org/officeDocument/2006/relationships/notesMaster" Target="/ppt/notesMasters/notesMaster1.xml" Id="Rc5a2555cd4e44d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bf4fb623284e28" /><Relationship Type="http://schemas.openxmlformats.org/officeDocument/2006/relationships/notesMaster" Target="/ppt/notesMasters/notesMaster1.xml" Id="Reaca6638b82844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a978a97d8f42cf" /><Relationship Type="http://schemas.openxmlformats.org/officeDocument/2006/relationships/notesMaster" Target="/ppt/notesMasters/notesMaster1.xml" Id="R8a292eaba98841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ecb6a91d014360" /><Relationship Type="http://schemas.openxmlformats.org/officeDocument/2006/relationships/notesMaster" Target="/ppt/notesMasters/notesMaster1.xml" Id="R3d626f02850d40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86c85ad63a4749" /><Relationship Type="http://schemas.openxmlformats.org/officeDocument/2006/relationships/notesMaster" Target="/ppt/notesMasters/notesMaster1.xml" Id="Rbbff9af3ab3342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24d619229640e8" /><Relationship Type="http://schemas.openxmlformats.org/officeDocument/2006/relationships/notesMaster" Target="/ppt/notesMasters/notesMaster1.xml" Id="R64a7fba22b1b4a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afc9df7b1b54d9d" /><Relationship Type="http://schemas.openxmlformats.org/officeDocument/2006/relationships/notesMaster" Target="/ppt/notesMasters/notesMaster1.xml" Id="R9aa5aab1a3b74a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0afc365f664191" /><Relationship Type="http://schemas.openxmlformats.org/officeDocument/2006/relationships/notesMaster" Target="/ppt/notesMasters/notesMaster1.xml" Id="Rbab74893975a4e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5d10118dc3b42a3" /><Relationship Type="http://schemas.openxmlformats.org/officeDocument/2006/relationships/notesMaster" Target="/ppt/notesMasters/notesMaster1.xml" Id="Rf49a61b89948435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a4eb8ff6c2493e" /><Relationship Type="http://schemas.openxmlformats.org/officeDocument/2006/relationships/notesMaster" Target="/ppt/notesMasters/notesMaster1.xml" Id="Rb1d4f39280f042e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40c370d9764b8d" /><Relationship Type="http://schemas.openxmlformats.org/officeDocument/2006/relationships/notesMaster" Target="/ppt/notesMasters/notesMaster1.xml" Id="R2927fb4796264a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7d5c4e36b54e8b" /><Relationship Type="http://schemas.openxmlformats.org/officeDocument/2006/relationships/notesMaster" Target="/ppt/notesMasters/notesMaster1.xml" Id="Ra0f4958b9c4e4a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af2510652e4587" /><Relationship Type="http://schemas.openxmlformats.org/officeDocument/2006/relationships/notesMaster" Target="/ppt/notesMasters/notesMaster1.xml" Id="R7dcb49f017e942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21326f4a814f57" /><Relationship Type="http://schemas.openxmlformats.org/officeDocument/2006/relationships/notesMaster" Target="/ppt/notesMasters/notesMaster1.xml" Id="R3227f7d131fa48e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19c41ab3614202" /><Relationship Type="http://schemas.openxmlformats.org/officeDocument/2006/relationships/notesMaster" Target="/ppt/notesMasters/notesMaster1.xml" Id="R86a5309553c74e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c15fc0a8a564c96" /><Relationship Type="http://schemas.openxmlformats.org/officeDocument/2006/relationships/notesMaster" Target="/ppt/notesMasters/notesMaster1.xml" Id="R82db6b8dcf9449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748f4b4c1d464c" /><Relationship Type="http://schemas.openxmlformats.org/officeDocument/2006/relationships/notesMaster" Target="/ppt/notesMasters/notesMaster1.xml" Id="Rb90ba83890054e5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51d735f190445a" /><Relationship Type="http://schemas.openxmlformats.org/officeDocument/2006/relationships/notesMaster" Target="/ppt/notesMasters/notesMaster1.xml" Id="R5e433f7d7d7043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3742c30eac8452f" /><Relationship Type="http://schemas.openxmlformats.org/officeDocument/2006/relationships/notesMaster" Target="/ppt/notesMasters/notesMaster1.xml" Id="R5adf2f1facf046a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aaf855da3994da3" /><Relationship Type="http://schemas.openxmlformats.org/officeDocument/2006/relationships/notesMaster" Target="/ppt/notesMasters/notesMaster1.xml" Id="R98bd7fdaea16471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d0bbcaf73014100" /><Relationship Type="http://schemas.openxmlformats.org/officeDocument/2006/relationships/notesMaster" Target="/ppt/notesMasters/notesMaster1.xml" Id="R5204a1d3bc4f4de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3291c9474a44e9c" /><Relationship Type="http://schemas.openxmlformats.org/officeDocument/2006/relationships/notesMaster" Target="/ppt/notesMasters/notesMaster1.xml" Id="R7869ca138423429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dffd4a1d0d14e34" /><Relationship Type="http://schemas.openxmlformats.org/officeDocument/2006/relationships/notesMaster" Target="/ppt/notesMasters/notesMaster1.xml" Id="R9cbdbb060928461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bf97c1d12194f12" /><Relationship Type="http://schemas.openxmlformats.org/officeDocument/2006/relationships/notesMaster" Target="/ppt/notesMasters/notesMaster1.xml" Id="R2d7cc5da791a4c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02da7e889e34d66" /><Relationship Type="http://schemas.openxmlformats.org/officeDocument/2006/relationships/notesMaster" Target="/ppt/notesMasters/notesMaster1.xml" Id="R15d02d4712da4b8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faa2451b6e2489f" /><Relationship Type="http://schemas.openxmlformats.org/officeDocument/2006/relationships/notesMaster" Target="/ppt/notesMasters/notesMaster1.xml" Id="R08838f43d96b48e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79d1db073984ef4" /><Relationship Type="http://schemas.openxmlformats.org/officeDocument/2006/relationships/notesMaster" Target="/ppt/notesMasters/notesMaster1.xml" Id="R036abba2024b40f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669c4623a934b64" /><Relationship Type="http://schemas.openxmlformats.org/officeDocument/2006/relationships/notesMaster" Target="/ppt/notesMasters/notesMaster1.xml" Id="Ree0ff272160f469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4fece89f9834fd5" /><Relationship Type="http://schemas.openxmlformats.org/officeDocument/2006/relationships/notesMaster" Target="/ppt/notesMasters/notesMaster1.xml" Id="Ra29a84958c9b464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7a16e7a6e3a494b" /><Relationship Type="http://schemas.openxmlformats.org/officeDocument/2006/relationships/notesMaster" Target="/ppt/notesMasters/notesMaster1.xml" Id="R7ea276e297144bf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8a43bb4a50a4c0b" /><Relationship Type="http://schemas.openxmlformats.org/officeDocument/2006/relationships/notesMaster" Target="/ppt/notesMasters/notesMaster1.xml" Id="Rf1f36c41c10a4de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b8a02b902924670" /><Relationship Type="http://schemas.openxmlformats.org/officeDocument/2006/relationships/notesMaster" Target="/ppt/notesMasters/notesMaster1.xml" Id="R161a41d71bff468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4c91cde2a974ecb" /><Relationship Type="http://schemas.openxmlformats.org/officeDocument/2006/relationships/notesMaster" Target="/ppt/notesMasters/notesMaster1.xml" Id="R79acd56cb1f2463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ce046e16d7745fd" /><Relationship Type="http://schemas.openxmlformats.org/officeDocument/2006/relationships/notesMaster" Target="/ppt/notesMasters/notesMaster1.xml" Id="Ra1db4d450aea405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87d36cf142e40bb" /><Relationship Type="http://schemas.openxmlformats.org/officeDocument/2006/relationships/notesMaster" Target="/ppt/notesMasters/notesMaster1.xml" Id="R021da4170d6a45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Welcome. Say: Today we will use existing tools, then teach a skill to do a task we understand. Students: keep one repeated task from your own work in mind.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one genuine Sunlight example you can safely demonstrate. Explain the repeated job it does. Keep the full private skill inventory out of the handout. Students: name a repeated decision in their own 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Say: A skill can support research, creative work, or an everyday workflow. Give one example, then ask students for one. Do not turn this into a tour of every tool.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 the intern question. Give everyone one minute to write privately, then have pairs share. Revisit their answers at the end of the day.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TODO FOR ASWIN: personal introduction. Add only the story and facts you want to share. No biography has been invented.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TODO FOR ASWIN: project examples. Add images and one sentence about the work you personally did.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the full-day rhythm: a tool warmup, then a 165-minute skills exercise. Three versions total, with a ten-minute break after version 2. Personal introduction and lunch timing remain yours to set.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Before teaching, confirm account access, browser capture, and the shared model. The QA exercise is a web app and needs no Xcode or AI Gateway balance. Keep a Python static server or the teacher-hosted app available. Do not quote a subscription price without checking it. Students: open the files and confirm they can see the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your chosen coding agent. Point out the working folder, prompt area, and browser preview. Use the same host for the demo and acknowledge that other hosts expose different controls.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the difference between an authoring task and a fresh audit task. Editing happens in authoring. The audit sees only one frozen skill and approved inputs. Explain that a fresh conversation alone does not restrict file access.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we will try the tools through a small warmup. Keep this separate from the QA exercise so the audit target stays stable.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457200" lvl="0" indent="-298450" algn="l">
              <a:spcBef>
                <a:spcPts val="0"/>
              </a:spcBef>
              <a:spcAft>
                <a:spcPts val="0"/>
              </a:spcAft>
              <a:buSzPts val="1100"/>
              <a:buChar char="●"/>
            </a:pPr>
            <a:r>
              <a:t>Open github.com/aswinckr/Hatch and the Workshop folder. Start with participants/WARMUP.md for the earlier tool exercises. The design QA handout is participants/START-HERE.md. The repository is private at preparation time, so arrange attendee read access before the event.</a:t>
            </a:r>
            <a:endParaRPr/>
          </a:p>
          <a:p xmlns:a="http://schemas.openxmlformats.org/drawingml/2006/main">
            <a:pPr marL="457200" lvl="0" indent="-298450" algn="l">
              <a:spcBef>
                <a:spcPts val="0"/>
              </a:spcBef>
              <a:spcAft>
                <a:spcPts val="0"/>
              </a:spcAft>
              <a:buSzPts val="1100"/>
              <a:buChar char="●"/>
            </a:pPr>
            <a:r>
              <a:t/>
            </a:r>
            <a:endParaRPr/>
          </a:p>
          <a:p xmlns:a="http://schemas.openxmlformats.org/drawingml/2006/main">
            <a:pPr marL="457200" lvl="0" indent="-298450" algn="l">
              <a:spcBef>
                <a:spcPts val="0"/>
              </a:spcBef>
              <a:spcAft>
                <a:spcPts val="0"/>
              </a:spcAft>
              <a:buSzPts val="1100"/>
              <a:buChar char="●"/>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with the existing illustration: the surrounding app gives the model tools and a place to work. Ask students to identify one action they have seen the agent take.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that a skill gives reusable instructions. Show where the instruction file lives. A skill description helps the host choose it. Source: https://learn.chatgpt.com/docs/build-skills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use the available skill interface to find and run Impeccable. Students: follow the first exercise in participants/WARMUP.md. Save a before screenshot and one design decision.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Keep this slide projected during the warmup. Students use the prompt in participants/WARMUP.md to improve a copy of the starter. Ask pairs to explain one visible change and its tradeoff.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separate focused work and its limits. A separate agent can still share files and tools. It is not automatically isolated from answers. Demonstrate only when the host supports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Create a focused persona reviewer using the WARMUP prompt. Give it the target audience and rendered page. Ask for observations tied to evidence. Label its perspective as simulated, not user research.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run the persona review, compare one observation with the page, and decide whether it is supported. Use a fresh task as a fallback if subagents are unavailable.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Figma example to show what a connection exposes. Tool access depends on the account, permissions, and quota. Keep screenshots ready so a rate limit does not stop the workshop.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demonstrate an available Figma read or write in an exercise copy. A failed or unavailable action should be reported honestly. Students use the matching WARMUP instructions.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create an editable copy of their warmup page in an exercise Figma file if available. If write access is unavailable, retrieve or inspect the reference screenshot and discuss the difference between read and write capabilities.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one command available in the host you are using. Explain that invocation syntax is host-specific. Do not assume every command exists in every coding app.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goal example as a bounded improvement loop. Students should be able to tell when an action has been checked. If no goal feature is available, follow the same bounded sequence manually.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Compare the two requests. Ask: what could we observe to decide whether the second request is done? A model score alone is not proof that real users can complete a task.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choose one main action and define a concrete check. Use the WARMUP goal prompt. Stop after two passes and report what remains.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improve one action in their warmup copy and check it again. Save evidence of the before and after behavior. Do not alter the QA target.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illustration to explain a reusable bundle. Actual plugin contents depend on the host. Point to the skill and tool parts students have already used.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Demonstrate an installed plugin and one useful skill within it. If unavailable, use an already installed brainstorming skill and name the fallback.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use the WARMUP motion prompt. Ask what the animation communicates and how the page works with reduced motion. Keep the change small.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Begin the 165-minute skills section. The setup, recap, and framing slides are brief. Avoid repeating the entire earlier tool introduction.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 students to recall one choice they made while using the earlier tools. Say: now we will put that kind of judgment into instructions.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Give students a short moment to name a task. This replaces the earlier duplicate skill-creation demo; the actual one-shot comes in version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Say: What part of your judgment can you make reusable? Keep the emphasis on making a useful workflow, not replacing all design judgment.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existing illustration to describe doing a repeated task manually. Ask which steps you normally perform without explaining them.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second illustration to describe reviewing work an assistant has prepared. Ask what evidence you would want before trusting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Point to SKILL.md, optional references, scripts, and assets. Keep this brief now; students will reorganize their own file in version 3. A small skill does not need every folder. Source: https://learn.chatgpt.com/docs/build-skills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Open a short already familiar skill file from the warmup. Show its purpose and instructions. Do not reveal the completed version 3 QA skill before students make their first attempt.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the Figma reference and participant app. Confirm width, state, main-run scope, and reserved transfer section. Students record the common inputs on WORKSHEET.md.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State the shared evidence rules from the teacher guide. We compare what is rendered, do not read app source, and do not fix the target. A supported finding is more useful than a long unsupported list.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1. Let's one-shot this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“Let's one-shot this.” **Time:** 8-minute demo, then 17-minute student activity and 10-minute review.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A working first attempt gives you something concrete to improve.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Show the reference and app, then ask: “What would you want someone to check before this ships?” Take two answers.</a:t>
            </a:r>
            <a:endParaRPr/>
          </a:p>
          <a:p xmlns:a="http://schemas.openxmlformats.org/drawingml/2006/main">
            <a:pPr marL="0" lvl="0" indent="0" algn="l">
              <a:spcBef>
                <a:spcPts val="0"/>
              </a:spcBef>
              <a:spcAft>
                <a:spcPts val="0"/>
              </a:spcAft>
              <a:buNone/>
            </a:pPr>
            <a:r>
              <a:t>- In the authoring task, select the available skill creator and paste the creation prompt below.</a:t>
            </a:r>
            <a:endParaRPr/>
          </a:p>
          <a:p xmlns:a="http://schemas.openxmlformats.org/drawingml/2006/main">
            <a:pPr marL="0" lvl="0" indent="0" algn="l">
              <a:spcBef>
                <a:spcPts val="0"/>
              </a:spcBef>
              <a:spcAft>
                <a:spcPts val="0"/>
              </a:spcAft>
              <a:buNone/>
            </a:pPr>
            <a:r>
              <a:t>- Answer any necessary setup question with the shared inputs. Do not dictate a checklist or output format yet.</a:t>
            </a:r>
            <a:endParaRPr/>
          </a:p>
          <a:p xmlns:a="http://schemas.openxmlformats.org/drawingml/2006/main">
            <a:pPr marL="0" lvl="0" indent="0" algn="l">
              <a:spcBef>
                <a:spcPts val="0"/>
              </a:spcBef>
              <a:spcAft>
                <a:spcPts val="0"/>
              </a:spcAft>
              <a:buNone/>
            </a:pPr>
            <a:r>
              <a:t>- Open the resulting skill and read a few lines aloud. Save it as version 1 before changing anything.</a:t>
            </a:r>
            <a:endParaRPr/>
          </a:p>
          <a:p xmlns:a="http://schemas.openxmlformats.org/drawingml/2006/main">
            <a:pPr marL="0" lvl="0" indent="0" algn="l">
              <a:spcBef>
                <a:spcPts val="0"/>
              </a:spcBef>
              <a:spcAft>
                <a:spcPts val="0"/>
              </a:spcAft>
              <a:buNone/>
            </a:pPr>
            <a:r>
              <a:t>- Open a fresh audit task, provide only version 1 and the shared inputs, and paste the run prompt.</a:t>
            </a:r>
            <a:endParaRPr/>
          </a:p>
          <a:p xmlns:a="http://schemas.openxmlformats.org/drawingml/2006/main">
            <a:pPr marL="0" lvl="0" indent="0" algn="l">
              <a:spcBef>
                <a:spcPts val="0"/>
              </a:spcBef>
              <a:spcAft>
                <a:spcPts val="0"/>
              </a:spcAft>
              <a:buNone/>
            </a:pPr>
            <a:r>
              <a:t>- While it runs, ask students to manually compare one small area. Review one actual finding when it finishes.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**Creation 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Create an instruction-only skill called design-qa-v1 that compares a rendered</a:t>
            </a:r>
            <a:endParaRPr/>
          </a:p>
          <a:p xmlns:a="http://schemas.openxmlformats.org/drawingml/2006/main">
            <a:pPr marL="0" lvl="0" indent="0" algn="l">
              <a:spcBef>
                <a:spcPts val="0"/>
              </a:spcBef>
              <a:spcAft>
                <a:spcPts val="0"/>
              </a:spcAft>
              <a:buNone/>
            </a:pPr>
            <a:r>
              <a:t>web app with a Figma screenshot reference and reports design differences as a standalone HTML file showing current and expected</a:t>
            </a:r>
            <a:endParaRPr/>
          </a:p>
          <a:p xmlns:a="http://schemas.openxmlformats.org/drawingml/2006/main">
            <a:pPr marL="0" lvl="0" indent="0" algn="l">
              <a:spcBef>
                <a:spcPts val="0"/>
              </a:spcBef>
              <a:spcAft>
                <a:spcPts val="0"/>
              </a:spcAft>
              <a:buNone/>
            </a:pPr>
            <a:r>
              <a:t>behavior with screenshot evidence. Choose your own layout.</a:t>
            </a:r>
            <a:endParaRPr/>
          </a:p>
          <a:p xmlns:a="http://schemas.openxmlformats.org/drawingml/2006/main">
            <a:pPr marL="0" lvl="0" indent="0" algn="l">
              <a:spcBef>
                <a:spcPts val="0"/>
              </a:spcBef>
              <a:spcAft>
                <a:spcPts val="0"/>
              </a:spcAft>
              <a:buNone/>
            </a:pPr>
            <a:r>
              <a:t>Follow the exercise rules already provided. Save the skill in my authoring</a:t>
            </a:r>
            <a:endParaRPr/>
          </a:p>
          <a:p xmlns:a="http://schemas.openxmlformats.org/drawingml/2006/main">
            <a:pPr marL="0" lvl="0" indent="0" algn="l">
              <a:spcBef>
                <a:spcPts val="0"/>
              </a:spcBef>
              <a:spcAft>
                <a:spcPts val="0"/>
              </a:spcAft>
              <a:buNone/>
            </a:pPr>
            <a:r>
              <a:t>workspace. Do not run the audit or change the app yet.</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prompt — reuse for every version, changing only the skill version**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Use design-qa-v1 and the exercise rules to compare this app with the reference.</a:t>
            </a:r>
            <a:endParaRPr/>
          </a:p>
          <a:p xmlns:a="http://schemas.openxmlformats.org/drawingml/2006/main">
            <a:pPr marL="0" lvl="0" indent="0" algn="l">
              <a:spcBef>
                <a:spcPts val="0"/>
              </a:spcBef>
              <a:spcAft>
                <a:spcPts val="0"/>
              </a:spcAft>
              <a:buNone/>
            </a:pPr>
            <a:r>
              <a:t>App URL: [paste the supplied URL]</a:t>
            </a:r>
            <a:endParaRPr/>
          </a:p>
          <a:p xmlns:a="http://schemas.openxmlformats.org/drawingml/2006/main">
            <a:pPr marL="0" lvl="0" indent="0" algn="l">
              <a:spcBef>
                <a:spcPts val="0"/>
              </a:spcBef>
              <a:spcAft>
                <a:spcPts val="0"/>
              </a:spcAft>
              <a:buNone/>
            </a:pPr>
            <a:r>
              <a:t>Reference: [attach the supplied images or paste the Figma frame link]</a:t>
            </a:r>
            <a:endParaRPr/>
          </a:p>
          <a:p xmlns:a="http://schemas.openxmlformats.org/drawingml/2006/main">
            <a:pPr marL="0" lvl="0" indent="0" algn="l">
              <a:spcBef>
                <a:spcPts val="0"/>
              </a:spcBef>
              <a:spcAft>
                <a:spcPts val="0"/>
              </a:spcAft>
              <a:buNone/>
            </a:pPr>
            <a:r>
              <a:t>Viewport: 428 × 900 CSS pixels, browser zoom 100%.</a:t>
            </a:r>
            <a:endParaRPr/>
          </a:p>
          <a:p xmlns:a="http://schemas.openxmlformats.org/drawingml/2006/main">
            <a:pPr marL="0" lvl="0" indent="0" algn="l">
              <a:spcBef>
                <a:spcPts val="0"/>
              </a:spcBef>
              <a:spcAft>
                <a:spcPts val="0"/>
              </a:spcAft>
              <a:buNone/>
            </a:pPr>
            <a:r>
              <a:t>State: initial discovery screen, search empty, no dialog open, no saved changes.</a:t>
            </a:r>
            <a:endParaRPr/>
          </a:p>
          <a:p xmlns:a="http://schemas.openxmlformats.org/drawingml/2006/main">
            <a:pPr marL="0" lvl="0" indent="0" algn="l">
              <a:spcBef>
                <a:spcPts val="0"/>
              </a:spcBef>
              <a:spcAft>
                <a:spcPts val="0"/>
              </a:spcAft>
              <a:buNone/>
            </a:pPr>
            <a:r>
              <a:t>Scope: discovery page except Highly-rated newcomers, reserved for transfer.</a:t>
            </a:r>
            <a:endParaRPr/>
          </a:p>
          <a:p xmlns:a="http://schemas.openxmlformats.org/drawingml/2006/main">
            <a:pPr marL="0" lvl="0" indent="0" algn="l">
              <a:spcBef>
                <a:spcPts val="0"/>
              </a:spcBef>
              <a:spcAft>
                <a:spcPts val="0"/>
              </a:spcAft>
              <a:buNone/>
            </a:pPr>
            <a:r>
              <a:t>Audit time budget: 8 minutes. Report what you verified before the budget ends.</a:t>
            </a:r>
            <a:endParaRPr/>
          </a:p>
          <a:p xmlns:a="http://schemas.openxmlformats.org/drawingml/2006/main">
            <a:pPr marL="0" lvl="0" indent="0" algn="l">
              <a:spcBef>
                <a:spcPts val="0"/>
              </a:spcBef>
              <a:spcAft>
                <a:spcPts val="0"/>
              </a:spcAft>
              <a:buNone/>
            </a:pPr>
            <a:r>
              <a:t>Do not change the skill or the app. State any evidence or coverage limitation.</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 17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Spend 3 minutes creating and saving their first skill.</a:t>
            </a:r>
            <a:endParaRPr/>
          </a:p>
          <a:p xmlns:a="http://schemas.openxmlformats.org/drawingml/2006/main">
            <a:pPr marL="0" lvl="0" indent="0" algn="l">
              <a:spcBef>
                <a:spcPts val="0"/>
              </a:spcBef>
              <a:spcAft>
                <a:spcPts val="0"/>
              </a:spcAft>
              <a:buNone/>
            </a:pPr>
            <a:r>
              <a:t>- Spend up to 8 minutes running it in a fresh task.</a:t>
            </a:r>
            <a:endParaRPr/>
          </a:p>
          <a:p xmlns:a="http://schemas.openxmlformats.org/drawingml/2006/main">
            <a:pPr marL="0" lvl="0" indent="0" algn="l">
              <a:spcBef>
                <a:spcPts val="0"/>
              </a:spcBef>
              <a:spcAft>
                <a:spcPts val="0"/>
              </a:spcAft>
              <a:buNone/>
            </a:pPr>
            <a:r>
              <a:t>- Spend 6 minutes saving the raw report and checking one claim against the two images.</a:t>
            </a:r>
            <a:endParaRPr/>
          </a:p>
          <a:p xmlns:a="http://schemas.openxmlformats.org/drawingml/2006/main">
            <a:pPr marL="0" lvl="0" indent="0" algn="l">
              <a:spcBef>
                <a:spcPts val="0"/>
              </a:spcBef>
              <a:spcAft>
                <a:spcPts val="0"/>
              </a:spcAft>
              <a:buNone/>
            </a:pPr>
            <a:r>
              <a:t>- Write one sentence: “I want the next version to be better at ___.”</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 before moving on:** Every student has a skill file and a saved report or clearly labeled partial run. Ask: “Can your partner locate the difference without you explaining it?” Do not grade by finding 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it goes well:** Use that result. Ask what makes it useful and whether the behavior is repeatable. **If it stalls:** Use a genuine saved run and keep the student's own attempt for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Transition to version 2. Students preserve version 1, then copy it to a new working folder. Predict one behavior that a better explanation could change.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2. Advise your intern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“Advise your intern.” **Time:** 8 minutes. Students apply it during the 24-minute version 2 activity.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Explain the judgment you normally leave implicit.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Copy version 1 into a version 2 working folder. Keep version 1 unchanged.</a:t>
            </a:r>
            <a:endParaRPr/>
          </a:p>
          <a:p xmlns:a="http://schemas.openxmlformats.org/drawingml/2006/main">
            <a:pPr marL="0" lvl="0" indent="0" algn="l">
              <a:spcBef>
                <a:spcPts val="0"/>
              </a:spcBef>
              <a:spcAft>
                <a:spcPts val="0"/>
              </a:spcAft>
              <a:buNone/>
            </a:pPr>
            <a:r>
              <a:t>- Click into the authoring task. Start voice input if available, or type the same explanation.</a:t>
            </a:r>
            <a:endParaRPr/>
          </a:p>
          <a:p xmlns:a="http://schemas.openxmlformats.org/drawingml/2006/main">
            <a:pPr marL="0" lvl="0" indent="0" algn="l">
              <a:spcBef>
                <a:spcPts val="0"/>
              </a:spcBef>
              <a:spcAft>
                <a:spcPts val="0"/>
              </a:spcAft>
              <a:buNone/>
            </a:pPr>
            <a:r>
              <a:t>- Speak naturally for about a minute. Describe what to check and how to decide; do not recite the planted answers.</a:t>
            </a:r>
            <a:endParaRPr/>
          </a:p>
          <a:p xmlns:a="http://schemas.openxmlformats.org/drawingml/2006/main">
            <a:pPr marL="0" lvl="0" indent="0" algn="l">
              <a:spcBef>
                <a:spcPts val="0"/>
              </a:spcBef>
              <a:spcAft>
                <a:spcPts val="0"/>
              </a:spcAft>
              <a:buNone/>
            </a:pPr>
            <a:r>
              <a:t>- Read the transcript once and correct words that change the meaning.</a:t>
            </a:r>
            <a:endParaRPr/>
          </a:p>
          <a:p xmlns:a="http://schemas.openxmlformats.org/drawingml/2006/main">
            <a:pPr marL="0" lvl="0" indent="0" algn="l">
              <a:spcBef>
                <a:spcPts val="0"/>
              </a:spcBef>
              <a:spcAft>
                <a:spcPts val="0"/>
              </a:spcAft>
              <a:buNone/>
            </a:pPr>
            <a:r>
              <a:t>- Submit the explanation with the revision prompt. Open the revised file and point to two concrete new instructions.</a:t>
            </a:r>
            <a:endParaRPr/>
          </a:p>
          <a:p xmlns:a="http://schemas.openxmlformats.org/drawingml/2006/main">
            <a:pPr marL="0" lvl="0" indent="0" algn="l">
              <a:spcBef>
                <a:spcPts val="0"/>
              </a:spcBef>
              <a:spcAft>
                <a:spcPts val="0"/>
              </a:spcAft>
              <a:buNone/>
            </a:pPr>
            <a:r>
              <a:t>- Ask students: “Which part of this explanation came from your experience as a designer?”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**Say or dictate**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&gt; Imagine you're helping me check this design. Start by making sure we are looking at the same screen at the same width. I normally work from the top down. Within a section, I check the heading, the spacing around it, and then the cards. I compare the outer shape before looking at the image crop and the text. I look at the price and its relationship to the delivery information. If a pattern repeats, I check the other visible examples too. Tell me where the difference is and show the evidence. If you can't tell from the image, say that.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**Revision 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Use my explanation below to improve design-qa-v2, copied from version 1.</a:t>
            </a:r>
            <a:endParaRPr/>
          </a:p>
          <a:p xmlns:a="http://schemas.openxmlformats.org/drawingml/2006/main">
            <a:pPr marL="0" lvl="0" indent="0" algn="l">
              <a:spcBef>
                <a:spcPts val="0"/>
              </a:spcBef>
              <a:spcAft>
                <a:spcPts val="0"/>
              </a:spcAft>
              <a:buNone/>
            </a:pPr>
            <a:r>
              <a:t>Turn my practical judgment into clear checking steps. Keep the shared evidence</a:t>
            </a:r>
            <a:endParaRPr/>
          </a:p>
          <a:p xmlns:a="http://schemas.openxmlformats.org/drawingml/2006/main">
            <a:pPr marL="0" lvl="0" indent="0" algn="l">
              <a:spcBef>
                <a:spcPts val="0"/>
              </a:spcBef>
              <a:spcAft>
                <a:spcPts val="0"/>
              </a:spcAft>
              <a:buNone/>
            </a:pPr>
            <a:r>
              <a:t>rules. Do not add facts about this particular app as reusable instructions.</a:t>
            </a:r>
            <a:endParaRPr/>
          </a:p>
          <a:p xmlns:a="http://schemas.openxmlformats.org/drawingml/2006/main">
            <a:pPr marL="0" lvl="0" indent="0" algn="l">
              <a:spcBef>
                <a:spcPts val="0"/>
              </a:spcBef>
              <a:spcAft>
                <a:spcPts val="0"/>
              </a:spcAft>
              <a:buNone/>
            </a:pPr>
            <a:r>
              <a:t>Save the revision and show me the meaningful changes. Do not run an audit yet.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My explanation:</a:t>
            </a:r>
            <a:endParaRPr/>
          </a:p>
          <a:p xmlns:a="http://schemas.openxmlformats.org/drawingml/2006/main">
            <a:pPr marL="0" lvl="0" indent="0" algn="l">
              <a:spcBef>
                <a:spcPts val="0"/>
              </a:spcBef>
              <a:spcAft>
                <a:spcPts val="0"/>
              </a:spcAft>
              <a:buNone/>
            </a:pPr>
            <a:r>
              <a:t>[paste the corrected voice transcript or typed explanation]</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In their own words, dictate or type the checks they would give a junior designer.</a:t>
            </a:r>
            <a:endParaRPr/>
          </a:p>
          <a:p xmlns:a="http://schemas.openxmlformats.org/drawingml/2006/main">
            <a:pPr marL="0" lvl="0" indent="0" algn="l">
              <a:spcBef>
                <a:spcPts val="0"/>
              </a:spcBef>
              <a:spcAft>
                <a:spcPts val="0"/>
              </a:spcAft>
              <a:buNone/>
            </a:pPr>
            <a:r>
              <a:t>- Include one decision rule, such as how they distinguish a repeated pattern from an isolated difference.</a:t>
            </a:r>
            <a:endParaRPr/>
          </a:p>
          <a:p xmlns:a="http://schemas.openxmlformats.org/drawingml/2006/main">
            <a:pPr marL="0" lvl="0" indent="0" algn="l">
              <a:spcBef>
                <a:spcPts val="0"/>
              </a:spcBef>
              <a:spcAft>
                <a:spcPts val="0"/>
              </a:spcAft>
              <a:buNone/>
            </a:pPr>
            <a:r>
              <a:t>- Read the generated instructions and remove anything they did not mean.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The new text names observable checks rather than repeating “be thorough.” **If voice fails:** Type rough bullets. The technique is explaining judgment, not using a particular dictation product.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3. Watch me 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“Watch me work.” **Time:** 10 minutes. Students repeat a smaller version during practice.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Demonstrating one real comparison reveals the sequence and decisions that a verbal request can miss.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Bring the first “You visited before” card into view in Figma and the app. Match the card and surrounding heading, not just a similarly colored image.</a:t>
            </a:r>
            <a:endParaRPr/>
          </a:p>
          <a:p xmlns:a="http://schemas.openxmlformats.org/drawingml/2006/main">
            <a:pPr marL="0" lvl="0" indent="0" algn="l">
              <a:spcBef>
                <a:spcPts val="0"/>
              </a:spcBef>
              <a:spcAft>
                <a:spcPts val="0"/>
              </a:spcAft>
              <a:buNone/>
            </a:pPr>
            <a:r>
              <a:t>- Capture one image of each at comparable scale, retaining enough surrounding content to locate the card. Label them `reference-card` and `app-card`.</a:t>
            </a:r>
            <a:endParaRPr/>
          </a:p>
          <a:p xmlns:a="http://schemas.openxmlformats.org/drawingml/2006/main">
            <a:pPr marL="0" lvl="0" indent="0" algn="l">
              <a:spcBef>
                <a:spcPts val="0"/>
              </a:spcBef>
              <a:spcAft>
                <a:spcPts val="0"/>
              </a:spcAft>
              <a:buNone/>
            </a:pPr>
            <a:r>
              <a:t>- Tell the agent it is observing a demonstration, using the first prompt below. Attach both images. Do not assume it sees your cursor or screen automatically.</a:t>
            </a:r>
            <a:endParaRPr/>
          </a:p>
          <a:p xmlns:a="http://schemas.openxmlformats.org/drawingml/2006/main">
            <a:pPr marL="0" lvl="0" indent="0" algn="l">
              <a:spcBef>
                <a:spcPts val="0"/>
              </a:spcBef>
              <a:spcAft>
                <a:spcPts val="0"/>
              </a:spcAft>
              <a:buNone/>
            </a:pPr>
            <a:r>
              <a:t>- Point to the outside edge. Say what you are comparing: corner shape and shadow. Record the observation as match, difference, or uncertain.</a:t>
            </a:r>
            <a:endParaRPr/>
          </a:p>
          <a:p xmlns:a="http://schemas.openxmlformats.org/drawingml/2006/main">
            <a:pPr marL="0" lvl="0" indent="0" algn="l">
              <a:spcBef>
                <a:spcPts val="0"/>
              </a:spcBef>
              <a:spcAft>
                <a:spcPts val="0"/>
              </a:spcAft>
              <a:buNone/>
            </a:pPr>
            <a:r>
              <a:t>- Point to the image and its boundary. Compare crop and the transition into the card body.</a:t>
            </a:r>
            <a:endParaRPr/>
          </a:p>
          <a:p xmlns:a="http://schemas.openxmlformats.org/drawingml/2006/main">
            <a:pPr marL="0" lvl="0" indent="0" algn="l">
              <a:spcBef>
                <a:spcPts val="0"/>
              </a:spcBef>
              <a:spcAft>
                <a:spcPts val="0"/>
              </a:spcAft>
              <a:buNone/>
            </a:pPr>
            <a:r>
              <a:t>- Point to the card title, then its supporting information. Compare hierarchy, alignment, and spacing.</a:t>
            </a:r>
            <a:endParaRPr/>
          </a:p>
          <a:p xmlns:a="http://schemas.openxmlformats.org/drawingml/2006/main">
            <a:pPr marL="0" lvl="0" indent="0" algn="l">
              <a:spcBef>
                <a:spcPts val="0"/>
              </a:spcBef>
              <a:spcAft>
                <a:spcPts val="0"/>
              </a:spcAft>
              <a:buNone/>
            </a:pPr>
            <a:r>
              <a:t>- Point to the small product images. Compare their orientation and separation. Describe only what the two images support.</a:t>
            </a:r>
            <a:endParaRPr/>
          </a:p>
          <a:p xmlns:a="http://schemas.openxmlformats.org/drawingml/2006/main">
            <a:pPr marL="0" lvl="0" indent="0" algn="l">
              <a:spcBef>
                <a:spcPts val="0"/>
              </a:spcBef>
              <a:spcAft>
                <a:spcPts val="0"/>
              </a:spcAft>
              <a:buNone/>
            </a:pPr>
            <a:r>
              <a:t>- Write one finding yourself using the observation template below. If you cannot verify a difference, model an “uncertain” entry instead.</a:t>
            </a:r>
            <a:endParaRPr/>
          </a:p>
          <a:p xmlns:a="http://schemas.openxmlformats.org/drawingml/2006/main">
            <a:pPr marL="0" lvl="0" indent="0" algn="l">
              <a:spcBef>
                <a:spcPts val="0"/>
              </a:spcBef>
              <a:spcAft>
                <a:spcPts val="0"/>
              </a:spcAft>
              <a:buNone/>
            </a:pPr>
            <a:r>
              <a:t>- Send your observations and the extraction prompt. Check the extracted process before accepting it into version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**Before demonstrating**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I am going to demonstrate how I compare one component. Use the two attached</a:t>
            </a:r>
            <a:endParaRPr/>
          </a:p>
          <a:p xmlns:a="http://schemas.openxmlformats.org/drawingml/2006/main">
            <a:pPr marL="0" lvl="0" indent="0" algn="l">
              <a:spcBef>
                <a:spcPts val="0"/>
              </a:spcBef>
              <a:spcAft>
                <a:spcPts val="0"/>
              </a:spcAft>
              <a:buNone/>
            </a:pPr>
            <a:r>
              <a:t>images and the observations I send. Do not audit the rest of the screen or</a:t>
            </a:r>
            <a:endParaRPr/>
          </a:p>
          <a:p xmlns:a="http://schemas.openxmlformats.org/drawingml/2006/main">
            <a:pPr marL="0" lvl="0" indent="0" algn="l">
              <a:spcBef>
                <a:spcPts val="0"/>
              </a:spcBef>
              <a:spcAft>
                <a:spcPts val="0"/>
              </a:spcAft>
              <a:buNone/>
            </a:pPr>
            <a:r>
              <a:t>edit the skill yet. Keep track of my sequence of checks and the decisions I make.</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**Narration pattern — say this while pointing**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&gt; First I'm making sure this is the same card. Now I'm checking the outer shape. Here is what I see in the reference, and here is what I see in the app. Next I check the image boundary. Then I check the title and the smaller information. I haven't tested this control, so I can't claim that it behaves incorrectly. I can describe the visible difference.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**Your manual observation**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Location: [section and component]</a:t>
            </a:r>
            <a:endParaRPr/>
          </a:p>
          <a:p xmlns:a="http://schemas.openxmlformats.org/drawingml/2006/main">
            <a:pPr marL="0" lvl="0" indent="0" algn="l">
              <a:spcBef>
                <a:spcPts val="0"/>
              </a:spcBef>
              <a:spcAft>
                <a:spcPts val="0"/>
              </a:spcAft>
              <a:buNone/>
            </a:pPr>
            <a:r>
              <a:t>Reference: [what I can actually see]</a:t>
            </a:r>
            <a:endParaRPr/>
          </a:p>
          <a:p xmlns:a="http://schemas.openxmlformats.org/drawingml/2006/main">
            <a:pPr marL="0" lvl="0" indent="0" algn="l">
              <a:spcBef>
                <a:spcPts val="0"/>
              </a:spcBef>
              <a:spcAft>
                <a:spcPts val="0"/>
              </a:spcAft>
              <a:buNone/>
            </a:pPr>
            <a:r>
              <a:t>App: [what I can actually see]</a:t>
            </a:r>
            <a:endParaRPr/>
          </a:p>
          <a:p xmlns:a="http://schemas.openxmlformats.org/drawingml/2006/main">
            <a:pPr marL="0" lvl="0" indent="0" algn="l">
              <a:spcBef>
                <a:spcPts val="0"/>
              </a:spcBef>
              <a:spcAft>
                <a:spcPts val="0"/>
              </a:spcAft>
              <a:buNone/>
            </a:pPr>
            <a:r>
              <a:t>Result: match / difference / uncertain</a:t>
            </a:r>
            <a:endParaRPr/>
          </a:p>
          <a:p xmlns:a="http://schemas.openxmlformats.org/drawingml/2006/main">
            <a:pPr marL="0" lvl="0" indent="0" algn="l">
              <a:spcBef>
                <a:spcPts val="0"/>
              </a:spcBef>
              <a:spcAft>
                <a:spcPts val="0"/>
              </a:spcAft>
              <a:buNone/>
            </a:pPr>
            <a:r>
              <a:t>Evidence: reference-card and app-card, [specific region]</a:t>
            </a:r>
            <a:endParaRPr/>
          </a:p>
          <a:p xmlns:a="http://schemas.openxmlformats.org/drawingml/2006/main">
            <a:pPr marL="0" lvl="0" indent="0" algn="l">
              <a:spcBef>
                <a:spcPts val="0"/>
              </a:spcBef>
              <a:spcAft>
                <a:spcPts val="0"/>
              </a:spcAft>
              <a:buNone/>
            </a:pPr>
            <a:r>
              <a:t>Suggested correction, if justified: [plain visual instruction]</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**After demonstrating**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Extract a reusable checking procedure from my demonstration. Separate my</a:t>
            </a:r>
            <a:endParaRPr/>
          </a:p>
          <a:p xmlns:a="http://schemas.openxmlformats.org/drawingml/2006/main">
            <a:pPr marL="0" lvl="0" indent="0" algn="l">
              <a:spcBef>
                <a:spcPts val="0"/>
              </a:spcBef>
              <a:spcAft>
                <a:spcPts val="0"/>
              </a:spcAft>
              <a:buNone/>
            </a:pPr>
            <a:r>
              <a:t>sequence of checks from the observations about this one card. Show me the</a:t>
            </a:r>
            <a:endParaRPr/>
          </a:p>
          <a:p xmlns:a="http://schemas.openxmlformats.org/drawingml/2006/main">
            <a:pPr marL="0" lvl="0" indent="0" algn="l">
              <a:spcBef>
                <a:spcPts val="0"/>
              </a:spcBef>
              <a:spcAft>
                <a:spcPts val="0"/>
              </a:spcAft>
              <a:buNone/>
            </a:pPr>
            <a:r>
              <a:t>procedure first. Do not turn this card's contents or observed defects into</a:t>
            </a:r>
            <a:endParaRPr/>
          </a:p>
          <a:p xmlns:a="http://schemas.openxmlformats.org/drawingml/2006/main">
            <a:pPr marL="0" lvl="0" indent="0" algn="l">
              <a:spcBef>
                <a:spcPts val="0"/>
              </a:spcBef>
              <a:spcAft>
                <a:spcPts val="0"/>
              </a:spcAft>
              <a:buNone/>
            </a:pPr>
            <a:r>
              <a:t>expected findings for other screens.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After reviewing it, send: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Add the reviewed procedure to design-qa-v2. Merge it with the existing checks</a:t>
            </a:r>
            <a:endParaRPr/>
          </a:p>
          <a:p xmlns:a="http://schemas.openxmlformats.org/drawingml/2006/main">
            <a:pPr marL="0" lvl="0" indent="0" algn="l">
              <a:spcBef>
                <a:spcPts val="0"/>
              </a:spcBef>
              <a:spcAft>
                <a:spcPts val="0"/>
              </a:spcAft>
              <a:buNone/>
            </a:pPr>
            <a:r>
              <a:t>instead of appending a second copy. Keep the one-card findings out of the</a:t>
            </a:r>
            <a:endParaRPr/>
          </a:p>
          <a:p xmlns:a="http://schemas.openxmlformats.org/drawingml/2006/main">
            <a:pPr marL="0" lvl="0" indent="0" algn="l">
              <a:spcBef>
                <a:spcPts val="0"/>
              </a:spcBef>
              <a:spcAft>
                <a:spcPts val="0"/>
              </a:spcAft>
              <a:buNone/>
            </a:pPr>
            <a:r>
              <a:t>skill. Do not run the full audit yet.</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Choose one component and make their own matching captures.</a:t>
            </a:r>
            <a:endParaRPr/>
          </a:p>
          <a:p xmlns:a="http://schemas.openxmlformats.org/drawingml/2006/main">
            <a:pPr marL="0" lvl="0" indent="0" algn="l">
              <a:spcBef>
                <a:spcPts val="0"/>
              </a:spcBef>
              <a:spcAft>
                <a:spcPts val="0"/>
              </a:spcAft>
              <a:buNone/>
            </a:pPr>
            <a:r>
              <a:t>- Manually compare it, narrating or typing at least three checks and one observation.</a:t>
            </a:r>
            <a:endParaRPr/>
          </a:p>
          <a:p xmlns:a="http://schemas.openxmlformats.org/drawingml/2006/main">
            <a:pPr marL="0" lvl="0" indent="0" algn="l">
              <a:spcBef>
                <a:spcPts val="0"/>
              </a:spcBef>
              <a:spcAft>
                <a:spcPts val="0"/>
              </a:spcAft>
              <a:buNone/>
            </a:pPr>
            <a:r>
              <a:t>- Give those images and observations to the authoring agent and ask it to extract the method.</a:t>
            </a:r>
            <a:endParaRPr/>
          </a:p>
          <a:p xmlns:a="http://schemas.openxmlformats.org/drawingml/2006/main">
            <a:pPr marL="0" lvl="0" indent="0" algn="l">
              <a:spcBef>
                <a:spcPts val="0"/>
              </a:spcBef>
              <a:spcAft>
                <a:spcPts val="0"/>
              </a:spcAft>
              <a:buNone/>
            </a:pPr>
            <a:r>
              <a:t>- Correct the method before merging it into version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A partner can follow the procedure on a different card. A list saying “this card has the wrong shadow” is an answer, not a procedure.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captures fail:** Use the supplied reference and app screenshots. The student still performs the comparison and supplies observations. No screen recording or live observation feature is required.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4. List 'em first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“List 'em first.” **Time:** 5 minutes, followed by the version 2 activity.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Review coverage before spending time executing a workflow.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Ask the authoring agent for a proposed checklist using the prompt below.</a:t>
            </a:r>
            <a:endParaRPr/>
          </a:p>
          <a:p xmlns:a="http://schemas.openxmlformats.org/drawingml/2006/main">
            <a:pPr marL="0" lvl="0" indent="0" algn="l">
              <a:spcBef>
                <a:spcPts val="0"/>
              </a:spcBef>
              <a:spcAft>
                <a:spcPts val="0"/>
              </a:spcAft>
              <a:buNone/>
            </a:pPr>
            <a:r>
              <a:t>- Read one row aloud. Ask: “How would we know this was checked?”</a:t>
            </a:r>
            <a:endParaRPr/>
          </a:p>
          <a:p xmlns:a="http://schemas.openxmlformats.org/drawingml/2006/main">
            <a:pPr marL="0" lvl="0" indent="0" algn="l">
              <a:spcBef>
                <a:spcPts val="0"/>
              </a:spcBef>
              <a:spcAft>
                <a:spcPts val="0"/>
              </a:spcAft>
              <a:buNone/>
            </a:pPr>
            <a:r>
              <a:t>- Replace vague items such as “check UX” with observable checks.</a:t>
            </a:r>
            <a:endParaRPr/>
          </a:p>
          <a:p xmlns:a="http://schemas.openxmlformats.org/drawingml/2006/main">
            <a:pPr marL="0" lvl="0" indent="0" algn="l">
              <a:spcBef>
                <a:spcPts val="0"/>
              </a:spcBef>
              <a:spcAft>
                <a:spcPts val="0"/>
              </a:spcAft>
              <a:buNone/>
            </a:pPr>
            <a:r>
              <a:t>- Remove duplicate rows. Keep room to mark an item not applicable or unverified.</a:t>
            </a:r>
            <a:endParaRPr/>
          </a:p>
          <a:p xmlns:a="http://schemas.openxmlformats.org/drawingml/2006/main">
            <a:pPr marL="0" lvl="0" indent="0" algn="l">
              <a:spcBef>
                <a:spcPts val="0"/>
              </a:spcBef>
              <a:spcAft>
                <a:spcPts val="0"/>
              </a:spcAft>
              <a:buNone/>
            </a:pPr>
            <a:r>
              <a:t>- Save the checklist requirement into version 2. Explain that execution now follows the reviewed checklist.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Using design-qa-v2, propose the checklist you would use before auditing.</a:t>
            </a:r>
            <a:endParaRPr/>
          </a:p>
          <a:p xmlns:a="http://schemas.openxmlformats.org/drawingml/2006/main">
            <a:pPr marL="0" lvl="0" indent="0" algn="l">
              <a:spcBef>
                <a:spcPts val="0"/>
              </a:spcBef>
              <a:spcAft>
                <a:spcPts val="0"/>
              </a:spcAft>
              <a:buNone/>
            </a:pPr>
            <a:r>
              <a:t>For each item, name the region or component, the property being compared,</a:t>
            </a:r>
            <a:endParaRPr/>
          </a:p>
          <a:p xmlns:a="http://schemas.openxmlformats.org/drawingml/2006/main">
            <a:pPr marL="0" lvl="0" indent="0" algn="l">
              <a:spcBef>
                <a:spcPts val="0"/>
              </a:spcBef>
              <a:spcAft>
                <a:spcPts val="0"/>
              </a:spcAft>
              <a:buNone/>
            </a:pPr>
            <a:r>
              <a:t>and the evidence needed. Do not report differences yet.</a:t>
            </a:r>
            <a:endParaRPr/>
          </a:p>
          <a:p xmlns:a="http://schemas.openxmlformats.org/drawingml/2006/main">
            <a:pPr marL="0" lvl="0" indent="0" algn="l">
              <a:spcBef>
                <a:spcPts val="0"/>
              </a:spcBef>
              <a:spcAft>
                <a:spcPts val="0"/>
              </a:spcAft>
              <a:buNone/>
            </a:pPr>
            <a:r>
              <a:t>Keep the checklist usable during a short audit and avoid duplicate checks.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After reviewing: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Add this checklist-first step to design-qa-v2. During a run, record whether</a:t>
            </a:r>
            <a:endParaRPr/>
          </a:p>
          <a:p xmlns:a="http://schemas.openxmlformats.org/drawingml/2006/main">
            <a:pPr marL="0" lvl="0" indent="0" algn="l">
              <a:spcBef>
                <a:spcPts val="0"/>
              </a:spcBef>
              <a:spcAft>
                <a:spcPts val="0"/>
              </a:spcAft>
              <a:buNone/>
            </a:pPr>
            <a:r>
              <a:t>each check matched, differed, was not applicable, or could not be verified.</a:t>
            </a:r>
            <a:endParaRPr/>
          </a:p>
          <a:p xmlns:a="http://schemas.openxmlformats.org/drawingml/2006/main">
            <a:pPr marL="0" lvl="0" indent="0" algn="l">
              <a:spcBef>
                <a:spcPts val="0"/>
              </a:spcBef>
              <a:spcAft>
                <a:spcPts val="0"/>
              </a:spcAft>
              <a:buNone/>
            </a:pPr>
            <a:r>
              <a:t>Require a standalone HTML report with Current behavior on the left and</a:t>
            </a:r>
            <a:endParaRPr/>
          </a:p>
          <a:p xmlns:a="http://schemas.openxmlformats.org/drawingml/2006/main">
            <a:pPr marL="0" lvl="0" indent="0" algn="l">
              <a:spcBef>
                <a:spcPts val="0"/>
              </a:spcBef>
              <a:spcAft>
                <a:spcPts val="0"/>
              </a:spcAft>
              <a:buNone/>
            </a:pPr>
            <a:r>
              <a:t>Expected behavior on the right, each with matching screenshot evidence.</a:t>
            </a:r>
            <a:endParaRPr/>
          </a:p>
          <a:p xmlns:a="http://schemas.openxmlformats.org/drawingml/2006/main">
            <a:pPr marL="0" lvl="0" indent="0" algn="l">
              <a:spcBef>
                <a:spcPts val="0"/>
              </a:spcBef>
              <a:spcAft>
                <a:spcPts val="0"/>
              </a:spcAft>
              <a:buNone/>
            </a:pPr>
            <a:r>
              <a:t>Keep the evidence rules. Save the skill without auditing the app yet.</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 version 2 practice, 24 minutes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- 4 min: Explain their checks and revise the copied skill.</a:t>
            </a:r>
            <a:endParaRPr/>
          </a:p>
          <a:p xmlns:a="http://schemas.openxmlformats.org/drawingml/2006/main">
            <a:pPr marL="0" lvl="0" indent="0" algn="l">
              <a:spcBef>
                <a:spcPts val="0"/>
              </a:spcBef>
              <a:spcAft>
                <a:spcPts val="0"/>
              </a:spcAft>
              <a:buNone/>
            </a:pPr>
            <a:r>
              <a:t>- 6 min: Demonstrate one component and extract the method.</a:t>
            </a:r>
            <a:endParaRPr/>
          </a:p>
          <a:p xmlns:a="http://schemas.openxmlformats.org/drawingml/2006/main">
            <a:pPr marL="0" lvl="0" indent="0" algn="l">
              <a:spcBef>
                <a:spcPts val="0"/>
              </a:spcBef>
              <a:spcAft>
                <a:spcPts val="0"/>
              </a:spcAft>
              <a:buNone/>
            </a:pPr>
            <a:r>
              <a:t>- 4 min: Review the checklist and save version 2.</a:t>
            </a:r>
            <a:endParaRPr/>
          </a:p>
          <a:p xmlns:a="http://schemas.openxmlformats.org/drawingml/2006/main">
            <a:pPr marL="0" lvl="0" indent="0" algn="l">
              <a:spcBef>
                <a:spcPts val="0"/>
              </a:spcBef>
              <a:spcAft>
                <a:spcPts val="0"/>
              </a:spcAft>
              <a:buNone/>
            </a:pPr>
            <a:r>
              <a:t>- 8 min: Run version 2 in a fresh audit task with the same shared inputs.</a:t>
            </a:r>
            <a:endParaRPr/>
          </a:p>
          <a:p xmlns:a="http://schemas.openxmlformats.org/drawingml/2006/main">
            <a:pPr marL="0" lvl="0" indent="0" algn="l">
              <a:spcBef>
                <a:spcPts val="0"/>
              </a:spcBef>
              <a:spcAft>
                <a:spcPts val="0"/>
              </a:spcAft>
              <a:buNone/>
            </a:pPr>
            <a:r>
              <a:t>- 2 min: Save report.html and select one finding for pair review.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**Pair review — 8 minutes:** One person locates a finding in the screenshots while the other explains which instruction helped. Swap roles. Discuss one missed or uncertain area. Save both versions; do not replace the baseline report.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Take the ten-minute break before this block. Return with version 2 saved. Copy it into version 3. We will improve a rule, choose a trigger, organize detail, and test a simplification.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5. Anti-patterns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“Anti-patterns.” **Time:** 7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Turn a specific failure into a narrow rule with a useful replacement behavior.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Copy version 2 into a version 3 working folder.</a:t>
            </a:r>
            <a:endParaRPr/>
          </a:p>
          <a:p xmlns:a="http://schemas.openxmlformats.org/drawingml/2006/main">
            <a:pPr marL="0" lvl="0" indent="0" algn="l">
              <a:spcBef>
                <a:spcPts val="0"/>
              </a:spcBef>
              <a:spcAft>
                <a:spcPts val="0"/>
              </a:spcAft>
              <a:buNone/>
            </a:pPr>
            <a:r>
              <a:t>- Choose one real weak finding from the reports. If none is suitable, label the examples below as hypothetical.</a:t>
            </a:r>
            <a:endParaRPr/>
          </a:p>
          <a:p xmlns:a="http://schemas.openxmlformats.org/drawingml/2006/main">
            <a:pPr marL="0" lvl="0" indent="0" algn="l">
              <a:spcBef>
                <a:spcPts val="0"/>
              </a:spcBef>
              <a:spcAft>
                <a:spcPts val="0"/>
              </a:spcAft>
              <a:buNone/>
            </a:pPr>
            <a:r>
              <a:t>- Ask students what evidence the finding would need.</a:t>
            </a:r>
            <a:endParaRPr/>
          </a:p>
          <a:p xmlns:a="http://schemas.openxmlformats.org/drawingml/2006/main">
            <a:pPr marL="0" lvl="0" indent="0" algn="l">
              <a:spcBef>
                <a:spcPts val="0"/>
              </a:spcBef>
              <a:spcAft>
                <a:spcPts val="0"/>
              </a:spcAft>
              <a:buNone/>
            </a:pPr>
            <a:r>
              <a:t>- Write “avoid this” and “do this instead” together.</a:t>
            </a:r>
            <a:endParaRPr/>
          </a:p>
          <a:p xmlns:a="http://schemas.openxmlformats.org/drawingml/2006/main">
            <a:pPr marL="0" lvl="0" indent="0" algn="l">
              <a:spcBef>
                <a:spcPts val="0"/>
              </a:spcBef>
              <a:spcAft>
                <a:spcPts val="0"/>
              </a:spcAft>
              <a:buNone/>
            </a:pPr>
            <a:r>
              <a:t>- Add only rules that address an observed problem or a concrete evidence limitation.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**Hypothetical examples**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Avoid | Do instead |</a:t>
            </a:r>
            <a:endParaRPr/>
          </a:p>
          <a:p xmlns:a="http://schemas.openxmlformats.org/drawingml/2006/main">
            <a:pPr marL="0" lvl="0" indent="0" algn="l">
              <a:spcBef>
                <a:spcPts val="0"/>
              </a:spcBef>
              <a:spcAft>
                <a:spcPts val="0"/>
              </a:spcAft>
              <a:buNone/>
            </a:pPr>
            <a:r>
              <a:t>| --- | --- |</a:t>
            </a:r>
            <a:endParaRPr/>
          </a:p>
          <a:p xmlns:a="http://schemas.openxmlformats.org/drawingml/2006/main">
            <a:pPr marL="0" lvl="0" indent="0" algn="l">
              <a:spcBef>
                <a:spcPts val="0"/>
              </a:spcBef>
              <a:spcAft>
                <a:spcPts val="0"/>
              </a:spcAft>
              <a:buNone/>
            </a:pPr>
            <a:r>
              <a:t>| “The radius is exactly 8 px wrong” from an uncalibrated screenshot | Describe the visible corner-shape difference and label any estimate |</a:t>
            </a:r>
            <a:endParaRPr/>
          </a:p>
          <a:p xmlns:a="http://schemas.openxmlformats.org/drawingml/2006/main">
            <a:pPr marL="0" lvl="0" indent="0" algn="l">
              <a:spcBef>
                <a:spcPts val="0"/>
              </a:spcBef>
              <a:spcAft>
                <a:spcPts val="0"/>
              </a:spcAft>
              <a:buNone/>
            </a:pPr>
            <a:r>
              <a:t>| “Users cannot find the cart” after looking at one image | Describe the visible affordance; test the interaction or label the usability impact as a hypothesis |</a:t>
            </a:r>
            <a:endParaRPr/>
          </a:p>
          <a:p xmlns:a="http://schemas.openxmlformats.org/drawingml/2006/main">
            <a:pPr marL="0" lvl="0" indent="0" algn="l">
              <a:spcBef>
                <a:spcPts val="0"/>
              </a:spcBef>
              <a:spcAft>
                <a:spcPts val="0"/>
              </a:spcAft>
              <a:buNone/>
            </a:pPr>
            <a:r>
              <a:t>| Ten separate findings for the same repeated card treatment | Group the repeated treatment and list the visible instances checked |</a:t>
            </a:r>
            <a:endParaRPr/>
          </a:p>
          <a:p xmlns:a="http://schemas.openxmlformats.org/drawingml/2006/main">
            <a:pPr marL="0" lvl="0" indent="0" algn="l">
              <a:spcBef>
                <a:spcPts val="0"/>
              </a:spcBef>
              <a:spcAft>
                <a:spcPts val="0"/>
              </a:spcAft>
              <a:buNone/>
            </a:pPr>
            <a:r>
              <a:t>| “This section is missing” when it was below the viewport | Scroll or mark the section unverified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Improve design-qa-v3 using this failure example:</a:t>
            </a:r>
            <a:endParaRPr/>
          </a:p>
          <a:p xmlns:a="http://schemas.openxmlformats.org/drawingml/2006/main">
            <a:pPr marL="0" lvl="0" indent="0" algn="l">
              <a:spcBef>
                <a:spcPts val="0"/>
              </a:spcBef>
              <a:spcAft>
                <a:spcPts val="0"/>
              </a:spcAft>
              <a:buNone/>
            </a:pPr>
            <a:r>
              <a:t>[paste one finding and explain why its evidence or wording is insufficient]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Propose one narrow rule that prevents this mistake and a positive instruction</a:t>
            </a:r>
            <a:endParaRPr/>
          </a:p>
          <a:p xmlns:a="http://schemas.openxmlformats.org/drawingml/2006/main">
            <a:pPr marL="0" lvl="0" indent="0" algn="l">
              <a:spcBef>
                <a:spcPts val="0"/>
              </a:spcBef>
              <a:spcAft>
                <a:spcPts val="0"/>
              </a:spcAft>
              <a:buNone/>
            </a:pPr>
            <a:r>
              <a:t>for what to do instead. Explain where it fits in the workflow. After I review</a:t>
            </a:r>
            <a:endParaRPr/>
          </a:p>
          <a:p xmlns:a="http://schemas.openxmlformats.org/drawingml/2006/main">
            <a:pPr marL="0" lvl="0" indent="0" algn="l">
              <a:spcBef>
                <a:spcPts val="0"/>
              </a:spcBef>
              <a:spcAft>
                <a:spcPts val="0"/>
              </a:spcAft>
              <a:buNone/>
            </a:pPr>
            <a:r>
              <a:t>it, merge it into the skill without duplicating existing rules.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Choose one weakness in their own report, propose a replacement behavior, and add it to version 3 during practice. **Checkpoint:** The rule describes how to work, not which answers to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6. User-invoked or model-invoked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“When should this skill run?” **Time:**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Choose the trigger deliberately. This is different from choosing a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Show an explicit request: “Use design-qa-v3 to compare these screenshots.” Select or mention the installed skill using the current app's skill control.</a:t>
            </a:r>
            <a:endParaRPr/>
          </a:p>
          <a:p xmlns:a="http://schemas.openxmlformats.org/drawingml/2006/main">
            <a:pPr marL="0" lvl="0" indent="0" algn="l">
              <a:spcBef>
                <a:spcPts val="0"/>
              </a:spcBef>
              <a:spcAft>
                <a:spcPts val="0"/>
              </a:spcAft>
              <a:buNone/>
            </a:pPr>
            <a:r>
              <a:t>- Show a natural request without naming it: “Compare this rendered screen with its Figma reference.” Explain that a matching description can support automatic selection.</a:t>
            </a:r>
            <a:endParaRPr/>
          </a:p>
          <a:p xmlns:a="http://schemas.openxmlformats.org/drawingml/2006/main">
            <a:pPr marL="0" lvl="0" indent="0" algn="l">
              <a:spcBef>
                <a:spcPts val="0"/>
              </a:spcBef>
              <a:spcAft>
                <a:spcPts val="0"/>
              </a:spcAft>
              <a:buNone/>
            </a:pPr>
            <a:r>
              <a:t>- Show an unrelated request: “Rewrite this meeting invitation.” Ask whether design QA belongs there.</a:t>
            </a:r>
            <a:endParaRPr/>
          </a:p>
          <a:p xmlns:a="http://schemas.openxmlformats.org/drawingml/2006/main">
            <a:pPr marL="0" lvl="0" indent="0" algn="l">
              <a:spcBef>
                <a:spcPts val="0"/>
              </a:spcBef>
              <a:spcAft>
                <a:spcPts val="0"/>
              </a:spcAft>
              <a:buNone/>
            </a:pPr>
            <a:r>
              <a:t>- Let students choose the intended trigger for their future use case. Keep explicit invocation for the timed workshop audits so you know which version is running.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Review the trigger description for design-qa-v3. It should apply to comparing</a:t>
            </a:r>
            <a:endParaRPr/>
          </a:p>
          <a:p xmlns:a="http://schemas.openxmlformats.org/drawingml/2006/main">
            <a:pPr marL="0" lvl="0" indent="0" algn="l">
              <a:spcBef>
                <a:spcPts val="0"/>
              </a:spcBef>
              <a:spcAft>
                <a:spcPts val="0"/>
              </a:spcAft>
              <a:buNone/>
            </a:pPr>
            <a:r>
              <a:t>a rendered interface with a supplied design reference, not general app</a:t>
            </a:r>
            <a:endParaRPr/>
          </a:p>
          <a:p xmlns:a="http://schemas.openxmlformats.org/drawingml/2006/main">
            <a:pPr marL="0" lvl="0" indent="0" algn="l">
              <a:spcBef>
                <a:spcPts val="0"/>
              </a:spcBef>
              <a:spcAft>
                <a:spcPts val="0"/>
              </a:spcAft>
              <a:buNone/>
            </a:pPr>
            <a:r>
              <a:t>implementation or unrelated writing. Propose a concise description and three</a:t>
            </a:r>
            <a:endParaRPr/>
          </a:p>
          <a:p xmlns:a="http://schemas.openxmlformats.org/drawingml/2006/main">
            <a:pPr marL="0" lvl="0" indent="0" algn="l">
              <a:spcBef>
                <a:spcPts val="0"/>
              </a:spcBef>
              <a:spcAft>
                <a:spcPts val="0"/>
              </a:spcAft>
              <a:buNone/>
            </a:pPr>
            <a:r>
              <a:t>example requests: a direct invocation, a natural matching request, and an</a:t>
            </a:r>
            <a:endParaRPr/>
          </a:p>
          <a:p xmlns:a="http://schemas.openxmlformats.org/drawingml/2006/main">
            <a:pPr marL="0" lvl="0" indent="0" algn="l">
              <a:spcBef>
                <a:spcPts val="0"/>
              </a:spcBef>
              <a:spcAft>
                <a:spcPts val="0"/>
              </a:spcAft>
              <a:buNone/>
            </a:pPr>
            <a:r>
              <a:t>unrelated request. Do not run the audit.</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**Optional Codex configuration demo:** If choosing explicit-only behavior, edit the skill's `agents/openai.yaml` to include `policy: { allow_implicit_invocation: false }`. Explicit invocation still works. Keep this a deliberate exercise choice, not a default applied to everyone's skill. Other hosts may use different controls. [Official OpenAI skill documentation](https://learn.chatgpt.com/docs/build-skills).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Write one sentence explaining when they want their skill to run. Use the three example requests as a routing check. **Checkpoint:** They can distinguish a trigger from the skill's checking procedure.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7. Structure the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“The main steps and the references.” **Time:**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Put essential instructions where the agent starts and conditional detail where it is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Open the version 3 folder and show the main skill beside its reference folder.</a:t>
            </a:r>
            <a:endParaRPr/>
          </a:p>
          <a:p xmlns:a="http://schemas.openxmlformats.org/drawingml/2006/main">
            <a:pPr marL="0" lvl="0" indent="0" algn="l">
              <a:spcBef>
                <a:spcPts val="0"/>
              </a:spcBef>
              <a:spcAft>
                <a:spcPts val="0"/>
              </a:spcAft>
              <a:buNone/>
            </a:pPr>
            <a:r>
              <a:t>- Keep purpose, evidence boundary, and workflow in the main file.</a:t>
            </a:r>
            <a:endParaRPr/>
          </a:p>
          <a:p xmlns:a="http://schemas.openxmlformats.org/drawingml/2006/main">
            <a:pPr marL="0" lvl="0" indent="0" algn="l">
              <a:spcBef>
                <a:spcPts val="0"/>
              </a:spcBef>
              <a:spcAft>
                <a:spcPts val="0"/>
              </a:spcAft>
              <a:buNone/>
            </a:pPr>
            <a:r>
              <a:t>- Move the detailed visual checklist to a reference. Keep an explicit instruction saying when to read it.</a:t>
            </a:r>
            <a:endParaRPr/>
          </a:p>
          <a:p xmlns:a="http://schemas.openxmlformats.org/drawingml/2006/main">
            <a:pPr marL="0" lvl="0" indent="0" algn="l">
              <a:spcBef>
                <a:spcPts val="0"/>
              </a:spcBef>
              <a:spcAft>
                <a:spcPts val="0"/>
              </a:spcAft>
              <a:buNone/>
            </a:pPr>
            <a:r>
              <a:t>- Put interaction checks in a separate reference that is read only when interaction testing is in scope.</a:t>
            </a:r>
            <a:endParaRPr/>
          </a:p>
          <a:p xmlns:a="http://schemas.openxmlformats.org/drawingml/2006/main">
            <a:pPr marL="0" lvl="0" indent="0" algn="l">
              <a:spcBef>
                <a:spcPts val="0"/>
              </a:spcBef>
              <a:spcAft>
                <a:spcPts val="0"/>
              </a:spcAft>
              <a:buNone/>
            </a:pPr>
            <a:r>
              <a:t>- Open the supplied Figma discrepancy frame and the bundled HTML example. Point to the dark issue header, Current on the left, Expected on the right, and paired screenshot panels.</a:t>
            </a:r>
            <a:endParaRPr/>
          </a:p>
          <a:p xmlns:a="http://schemas.openxmlformats.org/drawingml/2006/main">
            <a:pPr marL="0" lvl="0" indent="0" algn="l">
              <a:spcBef>
                <a:spcPts val="0"/>
              </a:spcBef>
              <a:spcAft>
                <a:spcPts val="0"/>
              </a:spcAft>
              <a:buNone/>
            </a:pPr>
            <a:r>
              <a:t>- Show how the HTML layout belongs in an asset, while the rules for evidence and reporting stay in the skill. The final output is a standalone report.html, with embedded images and no network dependency.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Organize design-qa-v3. Keep its purpose, input requirements, evidence rules,</a:t>
            </a:r>
            <a:endParaRPr/>
          </a:p>
          <a:p xmlns:a="http://schemas.openxmlformats.org/drawingml/2006/main">
            <a:pPr marL="0" lvl="0" indent="0" algn="l">
              <a:spcBef>
                <a:spcPts val="0"/>
              </a:spcBef>
              <a:spcAft>
                <a:spcPts val="0"/>
              </a:spcAft>
              <a:buNone/>
            </a:pPr>
            <a:r>
              <a:t>and short workflow in SKILL.md. Move the detailed visual checklist and any</a:t>
            </a:r>
            <a:endParaRPr/>
          </a:p>
          <a:p xmlns:a="http://schemas.openxmlformats.org/drawingml/2006/main">
            <a:pPr marL="0" lvl="0" indent="0" algn="l">
              <a:spcBef>
                <a:spcPts val="0"/>
              </a:spcBef>
              <a:spcAft>
                <a:spcPts val="0"/>
              </a:spcAft>
              <a:buNone/>
            </a:pPr>
            <a:r>
              <a:t>interaction-only instructions into focused references. Link each reference</a:t>
            </a:r>
            <a:endParaRPr/>
          </a:p>
          <a:p xmlns:a="http://schemas.openxmlformats.org/drawingml/2006/main">
            <a:pPr marL="0" lvl="0" indent="0" algn="l">
              <a:spcBef>
                <a:spcPts val="0"/>
              </a:spcBef>
              <a:spcAft>
                <a:spcPts val="0"/>
              </a:spcAft>
              <a:buNone/>
            </a:pPr>
            <a:r>
              <a:t>at the step where it is needed. Preserve behavior and remove duplication.</a:t>
            </a:r>
            <a:endParaRPr/>
          </a:p>
          <a:p xmlns:a="http://schemas.openxmlformats.org/drawingml/2006/main">
            <a:pPr marL="0" lvl="0" indent="0" algn="l">
              <a:spcBef>
                <a:spcPts val="0"/>
              </a:spcBef>
              <a:spcAft>
                <a:spcPts val="0"/>
              </a:spcAft>
              <a:buNone/>
            </a:pPr>
            <a:r>
              <a:t>Use the supplied discrepancy-template.html and HTML report specification</a:t>
            </a:r>
            <a:endParaRPr/>
          </a:p>
          <a:p xmlns:a="http://schemas.openxmlformats.org/drawingml/2006/main">
            <a:pPr marL="0" lvl="0" indent="0" algn="l">
              <a:spcBef>
                <a:spcPts val="0"/>
              </a:spcBef>
              <a:spcAft>
                <a:spcPts val="0"/>
              </a:spcAft>
              <a:buNone/>
            </a:pPr>
            <a:r>
              <a:t>for the output: a dark issue header, current and expected columns, and paired</a:t>
            </a:r>
            <a:endParaRPr/>
          </a:p>
          <a:p xmlns:a="http://schemas.openxmlformats.org/drawingml/2006/main">
            <a:pPr marL="0" lvl="0" indent="0" algn="l">
              <a:spcBef>
                <a:spcPts val="0"/>
              </a:spcBef>
              <a:spcAft>
                <a:spcPts val="0"/>
              </a:spcAft>
              <a:buNone/>
            </a:pPr>
            <a:r>
              <a:t>embedded screenshot evidence. Save a standalone report.html that opens offline.</a:t>
            </a:r>
            <a:endParaRPr/>
          </a:p>
          <a:p xmlns:a="http://schemas.openxmlformats.org/drawingml/2006/main">
            <a:pPr marL="0" lvl="0" indent="0" algn="l">
              <a:spcBef>
                <a:spcPts val="0"/>
              </a:spcBef>
              <a:spcAft>
                <a:spcPts val="0"/>
              </a:spcAft>
              <a:buNone/>
            </a:pPr>
            <a:r>
              <a:t>Do not add scripts unless the workflow actually needs them.</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Move one substantial piece of supporting detail and verify that the main skill tells the agent when to read it. **Checkpoint:** Ask “How will the agent know this file exists?”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8. Steer and prune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“Steer and prune.” **Time:** 10-minute demo, then version 3 practice.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**What you are teaching:** Test whether instructions change behavior before keeping or deleting them.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Select a vague line such as “be very thorough” and a duplicated paragraph from the working skill, if present.</a:t>
            </a:r>
            <a:endParaRPr/>
          </a:p>
          <a:p xmlns:a="http://schemas.openxmlformats.org/drawingml/2006/main">
            <a:pPr marL="0" lvl="0" indent="0" algn="l">
              <a:spcBef>
                <a:spcPts val="0"/>
              </a:spcBef>
              <a:spcAft>
                <a:spcPts val="0"/>
              </a:spcAft>
              <a:buNone/>
            </a:pPr>
            <a:r>
              <a:t>- Replace vague steering with an observable instruction, such as “compare each visible repeated card and group shared differences.”</a:t>
            </a:r>
            <a:endParaRPr/>
          </a:p>
          <a:p xmlns:a="http://schemas.openxmlformats.org/drawingml/2006/main">
            <a:pPr marL="0" lvl="0" indent="0" algn="l">
              <a:spcBef>
                <a:spcPts val="0"/>
              </a:spcBef>
              <a:spcAft>
                <a:spcPts val="0"/>
              </a:spcAft>
              <a:buNone/>
            </a:pPr>
            <a:r>
              <a:t>- Ask the agent to propose a deletion, but keep a copy of the current file.</a:t>
            </a:r>
            <a:endParaRPr/>
          </a:p>
          <a:p xmlns:a="http://schemas.openxmlformats.org/drawingml/2006/main">
            <a:pPr marL="0" lvl="0" indent="0" algn="l">
              <a:spcBef>
                <a:spcPts val="0"/>
              </a:spcBef>
              <a:spcAft>
                <a:spcPts val="0"/>
              </a:spcAft>
              <a:buNone/>
            </a:pPr>
            <a:r>
              <a:t>- Run a small comparison twice in separate tasks, once before and once after the proposed deletion, using the same screenshot pair and model.</a:t>
            </a:r>
            <a:endParaRPr/>
          </a:p>
          <a:p xmlns:a="http://schemas.openxmlformats.org/drawingml/2006/main">
            <a:pPr marL="0" lvl="0" indent="0" algn="l">
              <a:spcBef>
                <a:spcPts val="0"/>
              </a:spcBef>
              <a:spcAft>
                <a:spcPts val="0"/>
              </a:spcAft>
              <a:buNone/>
            </a:pPr>
            <a:r>
              <a:t>- Compare the actual outputs. Restore the line if the needed behavior disappears. Treat one pair of runs as a useful check, not proof of equivalence.</a:t>
            </a:r>
            <a:endParaRPr/>
          </a:p>
          <a:p xmlns:a="http://schemas.openxmlformats.org/drawingml/2006/main">
            <a:pPr marL="0" lvl="0" indent="0" algn="l">
              <a:spcBef>
                <a:spcPts val="0"/>
              </a:spcBef>
              <a:spcAft>
                <a:spcPts val="0"/>
              </a:spcAft>
              <a:buNone/>
            </a:pPr>
            <a:r>
              <a:t>- If the skill is already concise, remove nothing. Have the student explain why each passage belongs.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Review design-qa-v3 for repeated instructions, vague wording, and detail that</a:t>
            </a:r>
            <a:endParaRPr/>
          </a:p>
          <a:p xmlns:a="http://schemas.openxmlformats.org/drawingml/2006/main">
            <a:pPr marL="0" lvl="0" indent="0" algn="l">
              <a:spcBef>
                <a:spcPts val="0"/>
              </a:spcBef>
              <a:spcAft>
                <a:spcPts val="0"/>
              </a:spcAft>
              <a:buNone/>
            </a:pPr>
            <a:r>
              <a:t>does not affect the workflow. Propose up to three simplifications. For each,</a:t>
            </a:r>
            <a:endParaRPr/>
          </a:p>
          <a:p xmlns:a="http://schemas.openxmlformats.org/drawingml/2006/main">
            <a:pPr marL="0" lvl="0" indent="0" algn="l">
              <a:spcBef>
                <a:spcPts val="0"/>
              </a:spcBef>
              <a:spcAft>
                <a:spcPts val="0"/>
              </a:spcAft>
              <a:buNone/>
            </a:pPr>
            <a:r>
              <a:t>explain the behavior that must stay the same and a small test that could</a:t>
            </a:r>
            <a:endParaRPr/>
          </a:p>
          <a:p xmlns:a="http://schemas.openxmlformats.org/drawingml/2006/main">
            <a:pPr marL="0" lvl="0" indent="0" algn="l">
              <a:spcBef>
                <a:spcPts val="0"/>
              </a:spcBef>
              <a:spcAft>
                <a:spcPts val="0"/>
              </a:spcAft>
              <a:buNone/>
            </a:pPr>
            <a:r>
              <a:t>detect a regression. Do not apply the changes yet.</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After choosing 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Apply only the selected simplification and preserve a before copy outside</a:t>
            </a:r>
            <a:endParaRPr/>
          </a:p>
          <a:p xmlns:a="http://schemas.openxmlformats.org/drawingml/2006/main">
            <a:pPr marL="0" lvl="0" indent="0" algn="l">
              <a:spcBef>
                <a:spcPts val="0"/>
              </a:spcBef>
              <a:spcAft>
                <a:spcPts val="0"/>
              </a:spcAft>
              <a:buNone/>
            </a:pPr>
            <a:r>
              <a:t>the active skill folder. Show the difference. Keep the evidence rules and</a:t>
            </a:r>
            <a:endParaRPr/>
          </a:p>
          <a:p xmlns:a="http://schemas.openxmlformats.org/drawingml/2006/main">
            <a:pPr marL="0" lvl="0" indent="0" algn="l">
              <a:spcBef>
                <a:spcPts val="0"/>
              </a:spcBef>
              <a:spcAft>
                <a:spcPts val="0"/>
              </a:spcAft>
              <a:buNone/>
            </a:pPr>
            <a:r>
              <a:t>reference links intact. I will compare the before and after behavior in</a:t>
            </a:r>
            <a:endParaRPr/>
          </a:p>
          <a:p xmlns:a="http://schemas.openxmlformats.org/drawingml/2006/main">
            <a:pPr marL="0" lvl="0" indent="0" algn="l">
              <a:spcBef>
                <a:spcPts val="0"/>
              </a:spcBef>
              <a:spcAft>
                <a:spcPts val="0"/>
              </a:spcAft>
              <a:buNone/>
            </a:pPr>
            <a:r>
              <a:t>separate audit tasks.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 version 3 practice, 25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- 4 min: Add an anti-pattern rule and review the trigger.</a:t>
            </a:r>
            <a:endParaRPr/>
          </a:p>
          <a:p xmlns:a="http://schemas.openxmlformats.org/drawingml/2006/main">
            <a:pPr marL="0" lvl="0" indent="0" algn="l">
              <a:spcBef>
                <a:spcPts val="0"/>
              </a:spcBef>
              <a:spcAft>
                <a:spcPts val="0"/>
              </a:spcAft>
              <a:buNone/>
            </a:pPr>
            <a:r>
              <a:t>- 4 min: Organize one reference and choose one simplification.</a:t>
            </a:r>
            <a:endParaRPr/>
          </a:p>
          <a:p xmlns:a="http://schemas.openxmlformats.org/drawingml/2006/main">
            <a:pPr marL="0" lvl="0" indent="0" algn="l">
              <a:spcBef>
                <a:spcPts val="0"/>
              </a:spcBef>
              <a:spcAft>
                <a:spcPts val="0"/>
              </a:spcAft>
              <a:buNone/>
            </a:pPr>
            <a:r>
              <a:t>- 7 min: Compare before/after on a small screenshot pair and decide whether to keep the change.</a:t>
            </a:r>
            <a:endParaRPr/>
          </a:p>
          <a:p xmlns:a="http://schemas.openxmlformats.org/drawingml/2006/main">
            <a:pPr marL="0" lvl="0" indent="0" algn="l">
              <a:spcBef>
                <a:spcPts val="0"/>
              </a:spcBef>
              <a:spcAft>
                <a:spcPts val="0"/>
              </a:spcAft>
              <a:buNone/>
            </a:pPr>
            <a:r>
              <a:t>- 8 min: Run the full version 3 audit with the same main-run inputs.</a:t>
            </a:r>
            <a:endParaRPr/>
          </a:p>
          <a:p xmlns:a="http://schemas.openxmlformats.org/drawingml/2006/main">
            <a:pPr marL="0" lvl="0" indent="0" algn="l">
              <a:spcBef>
                <a:spcPts val="0"/>
              </a:spcBef>
              <a:spcAft>
                <a:spcPts val="0"/>
              </a:spcAft>
              <a:buNone/>
            </a:pPr>
            <a:r>
              <a:t>- 2 min: Save version 3 and its report, including unfinished areas.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**Checkpoint:** A shorter file is useful only if it preserves needed behavior. Do not delete the input or evidence rules to win a word-count contest.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guide: https://github.com/aswinckr/Hatch/blob/main/Workshop/instructor/TEACHER-GUIDE.md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PRIVATE — PRESENTER ONLY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9. Transfer and close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**Slide:** “What will you teach your skill next?” **Time:** 10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actions**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Give pairs the reserved “Highly-rated newcomers” section and its matching reference.</a:t>
            </a:r>
            <a:endParaRPr/>
          </a:p>
          <a:p xmlns:a="http://schemas.openxmlformats.org/drawingml/2006/main">
            <a:pPr marL="0" lvl="0" indent="0" algn="l">
              <a:spcBef>
                <a:spcPts val="0"/>
              </a:spcBef>
              <a:spcAft>
                <a:spcPts val="0"/>
              </a:spcAft>
              <a:buNone/>
            </a:pPr>
            <a:r>
              <a:t>- Run a short check with version 3, or manually apply its procedure if tool time is exhausted. Clearly distinguish those two outcomes.</a:t>
            </a:r>
            <a:endParaRPr/>
          </a:p>
          <a:p xmlns:a="http://schemas.openxmlformats.org/drawingml/2006/main">
            <a:pPr marL="0" lvl="0" indent="0" algn="l">
              <a:spcBef>
                <a:spcPts val="0"/>
              </a:spcBef>
              <a:spcAft>
                <a:spcPts val="0"/>
              </a:spcAft>
              <a:buNone/>
            </a:pPr>
            <a:r>
              <a:t>- Ask each pair to identify one supported finding or a justified match, and one uncertainty.</a:t>
            </a:r>
            <a:endParaRPr/>
          </a:p>
          <a:p xmlns:a="http://schemas.openxmlformats.org/drawingml/2006/main">
            <a:pPr marL="0" lvl="0" indent="0" algn="l">
              <a:spcBef>
                <a:spcPts val="0"/>
              </a:spcBef>
              <a:spcAft>
                <a:spcPts val="0"/>
              </a:spcAft>
              <a:buNone/>
            </a:pPr>
            <a:r>
              <a:t>- Ask: “What would you teach this skill next?” Then: “Which task from your own work could you teach this way?”</a:t>
            </a:r>
            <a:endParaRPr/>
          </a:p>
          <a:p xmlns:a="http://schemas.openxmlformats.org/drawingml/2006/main">
            <a:pPr marL="0" lvl="0" indent="0" algn="l">
              <a:spcBef>
                <a:spcPts val="0"/>
              </a:spcBef>
              <a:spcAft>
                <a:spcPts val="0"/>
              </a:spcAft>
              <a:buNone/>
            </a:pPr>
            <a:r>
              <a:t>- Point to the GitHub reference versions and instructions for later 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**Transfer prompt**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```text</a:t>
            </a:r>
            <a:endParaRPr/>
          </a:p>
          <a:p xmlns:a="http://schemas.openxmlformats.org/drawingml/2006/main">
            <a:pPr marL="0" lvl="0" indent="0" algn="l">
              <a:spcBef>
                <a:spcPts val="0"/>
              </a:spcBef>
              <a:spcAft>
                <a:spcPts val="0"/>
              </a:spcAft>
              <a:buNone/>
            </a:pPr>
            <a:r>
              <a:t>Use design-qa-v3 on only the supplied Highly-rated newcomers section and its</a:t>
            </a:r>
            <a:endParaRPr/>
          </a:p>
          <a:p xmlns:a="http://schemas.openxmlformats.org/drawingml/2006/main">
            <a:pPr marL="0" lvl="0" indent="0" algn="l">
              <a:spcBef>
                <a:spcPts val="0"/>
              </a:spcBef>
              <a:spcAft>
                <a:spcPts val="0"/>
              </a:spcAft>
              <a:buNone/>
            </a:pPr>
            <a:r>
              <a:t>matching reference. Use the same evidence rules. Do not read earlier reports.</a:t>
            </a:r>
            <a:endParaRPr/>
          </a:p>
          <a:p xmlns:a="http://schemas.openxmlformats.org/drawingml/2006/main">
            <a:pPr marL="0" lvl="0" indent="0" algn="l">
              <a:spcBef>
                <a:spcPts val="0"/>
              </a:spcBef>
              <a:spcAft>
                <a:spcPts val="0"/>
              </a:spcAft>
              <a:buNone/>
            </a:pPr>
            <a:r>
              <a:t>Spend up to three minutes, then report verified findings and limitations.</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**Students do:** Save a short reflection: one useful instruction change, one remaining limitation, and one real task to try after the workshop. Sharing a finding is optional; explaining a decision is enough.</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2955192fa843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e3e062ffd44a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cbe02af25748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4f1d34218f43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102d8a4d4544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aa052fed2446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b88aed4a160433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38cc8311bd04e7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dcb78ae60d840e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8ca545707ea45b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34ed427f631407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3274A779-EB9B-424E-BD46-29D71945EC65}"/>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B480BFD0-3687-4F10-A9C5-CF849516668E}"/>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D33D8FB7-892D-4E57-A74E-868CAB80EF5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62464A95-7E20-42A4-BB2B-AA62A384B45E}"/>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70BC3AD3-CAA0-44CE-A757-7F1E3D4970B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F200DD2B-29C1-4DAE-9D26-2DC7CDB78A9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C180B2E0-451F-4719-9F19-0FB7909DD20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410F3632-181A-422B-B286-761A6900252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19078721-1250-499F-ABD3-2F34EA8F170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83E5DA1B-55D9-4A89-8A09-BD365B73F90E}"/>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60296352-2335-4D9F-BB30-F450F2D76486}"/>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1FBBEF74-1107-4D31-ACE3-4B40FA00E80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BF11F542-CE58-4431-99BE-C7DAEECA14D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D967B9EB-6582-44A3-815E-6665EF0F87D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0CD5A47D-AED2-4A4C-B785-A3AFD1CD50ED}"/>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D45AF56E-A262-4EF0-8DCF-D260AD246D9C}"/>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341074AF-F5DA-4290-AD3C-F81D2A204E4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C0CAD5E5-6EC3-44AF-9789-8025F262627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34F005A3-0AF9-4390-A490-9B9335AA6BC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F6BCA6FE-615C-48A5-8087-2C2DA1603F24}"/>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163D82C6-2EDC-4FC8-A507-41FE3B5121BF}"/>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93531D28-6A96-4B2A-B734-48EE0FCA313E}"/>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ABB63507-94DC-4E1E-A350-9F14481CF9B0}"/>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BD4502FF-B888-4B91-AF08-002CBABD17B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AE39C6CB-9D78-421E-B297-2D6039731A54}"/>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484EF9E7-0689-42D1-B266-6699868950A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79472EC4-0EDA-4713-9185-3CA02E08BCD9}"/>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71F4DDB2-4EEE-4C18-BEBE-CF90D26A6B33}"/>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A8EF4335-FD0C-4A35-BA7F-CD3657F3691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CE30CA8B-1C47-45E5-B6B3-2C5002CF9C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0e7360dd014b7e" /><Relationship Type="http://schemas.openxmlformats.org/officeDocument/2006/relationships/slideLayout" Target="/ppt/slideLayouts/slideLayout1.xml" Id="Ra8925c8f5dfd40b4" /><Relationship Type="http://schemas.openxmlformats.org/officeDocument/2006/relationships/slideLayout" Target="/ppt/slideLayouts/slideLayout2.xml" Id="R9956aebde4394abb" /><Relationship Type="http://schemas.openxmlformats.org/officeDocument/2006/relationships/slideLayout" Target="/ppt/slideLayouts/slideLayout3.xml" Id="R4972e656518446c3" /><Relationship Type="http://schemas.openxmlformats.org/officeDocument/2006/relationships/slideLayout" Target="/ppt/slideLayouts/slideLayout4.xml" Id="Rc075e29ecaf44d99" /><Relationship Type="http://schemas.openxmlformats.org/officeDocument/2006/relationships/slideLayout" Target="/ppt/slideLayouts/slideLayout5.xml" Id="R64eed5eb66a745aa" /><Relationship Type="http://schemas.openxmlformats.org/officeDocument/2006/relationships/slideLayout" Target="/ppt/slideLayouts/slideLayout6.xml" Id="Ra65100bf284e42f3" /><Relationship Type="http://schemas.openxmlformats.org/officeDocument/2006/relationships/slideLayout" Target="/ppt/slideLayouts/slideLayout7.xml" Id="R930eb8f644bb4102" /><Relationship Type="http://schemas.openxmlformats.org/officeDocument/2006/relationships/slideLayout" Target="/ppt/slideLayouts/slideLayout8.xml" Id="R4356a625f1594729" /><Relationship Type="http://schemas.openxmlformats.org/officeDocument/2006/relationships/slideLayout" Target="/ppt/slideLayouts/slideLayout9.xml" Id="Rdec55e6aefdc47ec" /><Relationship Type="http://schemas.openxmlformats.org/officeDocument/2006/relationships/slideLayout" Target="/ppt/slideLayouts/slideLayout10.xml" Id="Re92eff54f6eb4e0c" /><Relationship Type="http://schemas.openxmlformats.org/officeDocument/2006/relationships/slideLayout" Target="/ppt/slideLayouts/slideLayout11.xml" Id="R8aeed5b5cde14223"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48701CDA-ACA4-4E6F-9DE9-267C3562B00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1pPr>
            <a:lvl2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2pPr>
            <a:lvl3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3pPr>
            <a:lvl4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4pPr>
            <a:lvl5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5pPr>
            <a:lvl6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6pPr>
            <a:lvl7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7pPr>
            <a:lvl8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8pPr>
            <a:lvl9pPr>
              <a:spcBef>
                <a:spcPts val="0"/>
              </a:spcBef>
              <a:spcAft>
                <a:spcPts val="0"/>
              </a:spcAft>
              <a:buClr>
                <a:schemeClr val="dk1"/>
              </a:buClr>
              <a:buSzPts val="2800"/>
              <a:buFont typeface="Instrument Serif"/>
              <a:buNone/>
              <a:defRPr sz="2800">
                <a:solidFill>
                  <a:schemeClr val="dk1"/>
                </a:solidFill>
                <a:latin typeface="Instrument Serif"/>
                <a:ea typeface="Instrument Serif"/>
                <a:cs typeface="Instrument Serif"/>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C9460A59-0941-4FC7-B082-7BF63225E7C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Font typeface="Instrument Serif"/>
              <a:buChar char="●"/>
              <a:defRPr sz="1800">
                <a:solidFill>
                  <a:schemeClr val="dk2"/>
                </a:solidFill>
                <a:latin typeface="Instrument Serif"/>
                <a:ea typeface="Instrument Serif"/>
                <a:cs typeface="Instrument Serif"/>
              </a:defRPr>
            </a:lvl1pPr>
            <a:lvl2pPr marL="9144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2pPr>
            <a:lvl3pPr marL="13716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3pPr>
            <a:lvl4pPr marL="18288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4pPr>
            <a:lvl5pPr marL="22860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5pPr>
            <a:lvl6pPr marL="27432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6pPr>
            <a:lvl7pPr marL="32004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7pPr>
            <a:lvl8pPr marL="36576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8pPr>
            <a:lvl9pPr marL="4114800" indent="-317500">
              <a:lnSpc>
                <a:spcPct val="115000"/>
              </a:lnSpc>
              <a:spcBef>
                <a:spcPts val="0"/>
              </a:spcBef>
              <a:spcAft>
                <a:spcPts val="0"/>
              </a:spcAft>
              <a:buClr>
                <a:schemeClr val="dk2"/>
              </a:buClr>
              <a:buSzPts val="1400"/>
              <a:buFont typeface="Instrument Serif"/>
              <a:buChar char="■"/>
              <a:defRPr>
                <a:solidFill>
                  <a:schemeClr val="dk2"/>
                </a:solidFill>
                <a:latin typeface="Instrument Serif"/>
                <a:ea typeface="Instrument Serif"/>
                <a:cs typeface="Instrument Serif"/>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2B1F8A09-6735-4768-B241-17195510A0D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8925c8f5dfd40b4"/>
    <p:sldLayoutId xmlns:r="http://schemas.openxmlformats.org/officeDocument/2006/relationships" id="2147483650" r:id="R9956aebde4394abb"/>
    <p:sldLayoutId xmlns:r="http://schemas.openxmlformats.org/officeDocument/2006/relationships" id="2147483651" r:id="R4972e656518446c3"/>
    <p:sldLayoutId xmlns:r="http://schemas.openxmlformats.org/officeDocument/2006/relationships" id="2147483652" r:id="Rc075e29ecaf44d99"/>
    <p:sldLayoutId xmlns:r="http://schemas.openxmlformats.org/officeDocument/2006/relationships" id="2147483653" r:id="R64eed5eb66a745aa"/>
    <p:sldLayoutId xmlns:r="http://schemas.openxmlformats.org/officeDocument/2006/relationships" id="2147483654" r:id="Ra65100bf284e42f3"/>
    <p:sldLayoutId xmlns:r="http://schemas.openxmlformats.org/officeDocument/2006/relationships" id="2147483655" r:id="R930eb8f644bb4102"/>
    <p:sldLayoutId xmlns:r="http://schemas.openxmlformats.org/officeDocument/2006/relationships" id="2147483656" r:id="R4356a625f1594729"/>
    <p:sldLayoutId xmlns:r="http://schemas.openxmlformats.org/officeDocument/2006/relationships" id="2147483657" r:id="Rdec55e6aefdc47ec"/>
    <p:sldLayoutId xmlns:r="http://schemas.openxmlformats.org/officeDocument/2006/relationships" id="2147483658" r:id="Re92eff54f6eb4e0c"/>
    <p:sldLayoutId xmlns:r="http://schemas.openxmlformats.org/officeDocument/2006/relationships" id="2147483659" r:id="R8aeed5b5cde1422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df65bb87d24f03" /><Relationship Type="http://schemas.openxmlformats.org/officeDocument/2006/relationships/notesSlide" Target="/ppt/notesSlides/notesSlide1.xml" Id="R062311199707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bf64b8c7439452f" /><Relationship Type="http://schemas.openxmlformats.org/officeDocument/2006/relationships/notesSlide" Target="/ppt/notesSlides/notesSlide2.xml" Id="Rf5af558798184c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33fdb508aba4643" /><Relationship Type="http://schemas.openxmlformats.org/officeDocument/2006/relationships/notesSlide" Target="/ppt/notesSlides/notesSlide3.xml" Id="R2fcbb31db15a4b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24e899bd2e74eeb" /><Relationship Type="http://schemas.openxmlformats.org/officeDocument/2006/relationships/notesSlide" Target="/ppt/notesSlides/notesSlide4.xml" Id="R099c58a07170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6a15e27a33f4d58" /><Relationship Type="http://schemas.openxmlformats.org/officeDocument/2006/relationships/notesSlide" Target="/ppt/notesSlides/notesSlide5.xml" Id="R8caf7da49fab4f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df56098056644e8" /><Relationship Type="http://schemas.openxmlformats.org/officeDocument/2006/relationships/notesSlide" Target="/ppt/notesSlides/notesSlide6.xml" Id="R56f645365ef344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cc9214d179a407c" /><Relationship Type="http://schemas.openxmlformats.org/officeDocument/2006/relationships/notesSlide" Target="/ppt/notesSlides/notesSlide7.xml" Id="R39fd9669252540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ec2455b36b964845" /><Relationship Type="http://schemas.openxmlformats.org/officeDocument/2006/relationships/notesSlide" Target="/ppt/notesSlides/notesSlide8.xml" Id="Rde412716d2ce48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2a92e908e5f4c51" /><Relationship Type="http://schemas.openxmlformats.org/officeDocument/2006/relationships/notesSlide" Target="/ppt/notesSlides/notesSlide9.xml" Id="R207d6f02d84342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4fbd9a59f0044386" /><Relationship Type="http://schemas.openxmlformats.org/officeDocument/2006/relationships/notesSlide" Target="/ppt/notesSlides/notesSlide10.xml" Id="R0dc80451852b42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04c497eacaa4045" /><Relationship Type="http://schemas.openxmlformats.org/officeDocument/2006/relationships/notesSlide" Target="/ppt/notesSlides/notesSlide11.xml" Id="Rc3a7c07f5d3b46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b650507d8c74ffd" /><Relationship Type="http://schemas.openxmlformats.org/officeDocument/2006/relationships/notesSlide" Target="/ppt/notesSlides/notesSlide12.xml" Id="R1b25eb944edb48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1c8c2cfa86c140ef" /><Relationship Type="http://schemas.openxmlformats.org/officeDocument/2006/relationships/image" Target="/ppt/media/image.jpeg" Id="R08788ecd131b4591" /><Relationship Type="http://schemas.openxmlformats.org/officeDocument/2006/relationships/notesSlide" Target="/ppt/notesSlides/notesSlide13.xml" Id="R0942b9245a3a43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d616d309d74421e" /><Relationship Type="http://schemas.openxmlformats.org/officeDocument/2006/relationships/notesSlide" Target="/ppt/notesSlides/notesSlide14.xml" Id="R60a5aa0f397f4a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1d31eb276314edf" /><Relationship Type="http://schemas.openxmlformats.org/officeDocument/2006/relationships/hyperlink" Target="https://skills.sh/" TargetMode="External" Id="R92912f8ee1674597" /><Relationship Type="http://schemas.openxmlformats.org/officeDocument/2006/relationships/notesSlide" Target="/ppt/notesSlides/notesSlide15.xml" Id="R507f075363e246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5e9711c486a4fd6" /><Relationship Type="http://schemas.openxmlformats.org/officeDocument/2006/relationships/notesSlide" Target="/ppt/notesSlides/notesSlide16.xml" Id="R45e8a678b80b46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7796fb3d627645d6" /><Relationship Type="http://schemas.openxmlformats.org/officeDocument/2006/relationships/image" Target="/ppt/media/image2.jpeg" Id="R73a04a66b1fd4110" /><Relationship Type="http://schemas.openxmlformats.org/officeDocument/2006/relationships/notesSlide" Target="/ppt/notesSlides/notesSlide17.xml" Id="R685918798a1e43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be2ef07d4f874f3d" /><Relationship Type="http://schemas.openxmlformats.org/officeDocument/2006/relationships/notesSlide" Target="/ppt/notesSlides/notesSlide18.xml" Id="R97b7a6c1f9be44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2a44d10c1004178" /><Relationship Type="http://schemas.openxmlformats.org/officeDocument/2006/relationships/notesSlide" Target="/ppt/notesSlides/notesSlide19.xml" Id="R9317c5f39cd84c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5a538ffdccd4b7a" /><Relationship Type="http://schemas.openxmlformats.org/officeDocument/2006/relationships/image" Target="/ppt/media/image3.jpeg" Id="Rfa8a0085eb314193" /><Relationship Type="http://schemas.openxmlformats.org/officeDocument/2006/relationships/notesSlide" Target="/ppt/notesSlides/notesSlide20.xml" Id="R30f37b9f03224f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bfce42c58814949" /><Relationship Type="http://schemas.openxmlformats.org/officeDocument/2006/relationships/notesSlide" Target="/ppt/notesSlides/notesSlide21.xml" Id="R14f481e21f8946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8a03d3cd96984b5c" /><Relationship Type="http://schemas.openxmlformats.org/officeDocument/2006/relationships/notesSlide" Target="/ppt/notesSlides/notesSlide22.xml" Id="Rfecc9629a2f54c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86e99b4966a747a8" /><Relationship Type="http://schemas.openxmlformats.org/officeDocument/2006/relationships/image" Target="/ppt/media/image.png" Id="R7e09cb71625941b8" /><Relationship Type="http://schemas.openxmlformats.org/officeDocument/2006/relationships/notesSlide" Target="/ppt/notesSlides/notesSlide23.xml" Id="R23583e1249fa49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5.xml" Id="Rd1ffd847666c4571" /><Relationship Type="http://schemas.openxmlformats.org/officeDocument/2006/relationships/image" Target="/ppt/media/image4.jpeg" Id="Ra0013ee0f5ba450d" /><Relationship Type="http://schemas.openxmlformats.org/officeDocument/2006/relationships/notesSlide" Target="/ppt/notesSlides/notesSlide24.xml" Id="Rea7a7dff4afb47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ec91f2d2027b4bcf" /><Relationship Type="http://schemas.openxmlformats.org/officeDocument/2006/relationships/notesSlide" Target="/ppt/notesSlides/notesSlide25.xml" Id="Rbe7e2e7a8fa54e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75932ce18b7b4b2a" /><Relationship Type="http://schemas.openxmlformats.org/officeDocument/2006/relationships/notesSlide" Target="/ppt/notesSlides/notesSlide26.xml" Id="Rcfc0661ea93b4c7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9689da05d4e54f63" /><Relationship Type="http://schemas.openxmlformats.org/officeDocument/2006/relationships/notesSlide" Target="/ppt/notesSlides/notesSlide27.xml" Id="R5bef4c41f425477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c7702376c0b14613" /><Relationship Type="http://schemas.openxmlformats.org/officeDocument/2006/relationships/image" Target="/ppt/media/image5.jpeg" Id="R3f3bf86377274463" /><Relationship Type="http://schemas.openxmlformats.org/officeDocument/2006/relationships/notesSlide" Target="/ppt/notesSlides/notesSlide28.xml" Id="R9cf5db14d60e47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fdd9cc640b0f460a" /><Relationship Type="http://schemas.openxmlformats.org/officeDocument/2006/relationships/notesSlide" Target="/ppt/notesSlides/notesSlide29.xml" Id="R93c3cab761694f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a48f779843ef44c2" /><Relationship Type="http://schemas.openxmlformats.org/officeDocument/2006/relationships/notesSlide" Target="/ppt/notesSlides/notesSlide30.xml" Id="R06127f337f42418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fe912491b6d4d80" /><Relationship Type="http://schemas.openxmlformats.org/officeDocument/2006/relationships/notesSlide" Target="/ppt/notesSlides/notesSlide31.xml" Id="R96e74cac48424fd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e2e875fd7ab44cb7" /><Relationship Type="http://schemas.openxmlformats.org/officeDocument/2006/relationships/notesSlide" Target="/ppt/notesSlides/notesSlide32.xml" Id="R9370b811c922417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5b285647ed3b4820" /><Relationship Type="http://schemas.openxmlformats.org/officeDocument/2006/relationships/notesSlide" Target="/ppt/notesSlides/notesSlide33.xml" Id="Re4b676eb31e34e8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75a552e15a0b459b" /><Relationship Type="http://schemas.openxmlformats.org/officeDocument/2006/relationships/notesSlide" Target="/ppt/notesSlides/notesSlide34.xml" Id="Ra95da61e469b41f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1.xml" Id="Rd58abc6e8f4b436a" /><Relationship Type="http://schemas.openxmlformats.org/officeDocument/2006/relationships/image" Target="/ppt/media/image6.jpeg" Id="R9c4e920740dd4c90" /><Relationship Type="http://schemas.openxmlformats.org/officeDocument/2006/relationships/notesSlide" Target="/ppt/notesSlides/notesSlide35.xml" Id="R2bbc5b74253548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1.xml" Id="R3c92a570d7f04435" /><Relationship Type="http://schemas.openxmlformats.org/officeDocument/2006/relationships/image" Target="/ppt/media/image7.jpeg" Id="R514e71dfb5424683" /><Relationship Type="http://schemas.openxmlformats.org/officeDocument/2006/relationships/notesSlide" Target="/ppt/notesSlides/notesSlide36.xml" Id="R17cd2dcecbaa4b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23c5d6a0873c4b2c" /><Relationship Type="http://schemas.openxmlformats.org/officeDocument/2006/relationships/image" Target="/ppt/media/image8.jpeg" Id="Rb4a798068e714136" /><Relationship Type="http://schemas.openxmlformats.org/officeDocument/2006/relationships/notesSlide" Target="/ppt/notesSlides/notesSlide37.xml" Id="Ra323610d0ad74d9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f1d06ae57f19476a" /><Relationship Type="http://schemas.openxmlformats.org/officeDocument/2006/relationships/notesSlide" Target="/ppt/notesSlides/notesSlide38.xml" Id="Rfac21f80d3df467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859d312a8d3d4ee9" /><Relationship Type="http://schemas.openxmlformats.org/officeDocument/2006/relationships/notesSlide" Target="/ppt/notesSlides/notesSlide39.xml" Id="Re9c19f7651df40e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3.xml" Id="R59f1641f22b942c0" /><Relationship Type="http://schemas.openxmlformats.org/officeDocument/2006/relationships/notesSlide" Target="/ppt/notesSlides/notesSlide40.xml" Id="R41fb2a7524c9439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88d00f2c4ecb497b" /><Relationship Type="http://schemas.openxmlformats.org/officeDocument/2006/relationships/notesSlide" Target="/ppt/notesSlides/notesSlide41.xml" Id="Rf9026adf591c463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cde8fc1f0ff4d8d" /><Relationship Type="http://schemas.openxmlformats.org/officeDocument/2006/relationships/notesSlide" Target="/ppt/notesSlides/notesSlide42.xml" Id="R1849c7d398a546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3.xml" Id="R600aed1c1530469b" /><Relationship Type="http://schemas.openxmlformats.org/officeDocument/2006/relationships/notesSlide" Target="/ppt/notesSlides/notesSlide43.xml" Id="Rb9609b44d98747d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ef752adb35e84bfb" /><Relationship Type="http://schemas.openxmlformats.org/officeDocument/2006/relationships/notesSlide" Target="/ppt/notesSlides/notesSlide44.xml" Id="Rba4f887939c04a7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3.xml" Id="R26d3ab88b04f41fc" /><Relationship Type="http://schemas.openxmlformats.org/officeDocument/2006/relationships/notesSlide" Target="/ppt/notesSlides/notesSlide45.xml" Id="Reb15dd45402c4ec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2e9307be53234727" /><Relationship Type="http://schemas.openxmlformats.org/officeDocument/2006/relationships/notesSlide" Target="/ppt/notesSlides/notesSlide46.xml" Id="Rcf230a58d5d7437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3.xml" Id="R8e3230acc9be43f4" /><Relationship Type="http://schemas.openxmlformats.org/officeDocument/2006/relationships/notesSlide" Target="/ppt/notesSlides/notesSlide47.xml" Id="R61c4bcf94156430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3.xml" Id="Rfcbfd0aaa6c94e3b" /><Relationship Type="http://schemas.openxmlformats.org/officeDocument/2006/relationships/notesSlide" Target="/ppt/notesSlides/notesSlide48.xml" Id="R35dbe11814fd40d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3.xml" Id="R156fa25676934e0e" /><Relationship Type="http://schemas.openxmlformats.org/officeDocument/2006/relationships/notesSlide" Target="/ppt/notesSlides/notesSlide49.xml" Id="R3df3a5b1722e45c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3.xml" Id="Re46e5a7e943843db" /><Relationship Type="http://schemas.openxmlformats.org/officeDocument/2006/relationships/notesSlide" Target="/ppt/notesSlides/notesSlide50.xml" Id="Rbb538721b8b94c1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ba89b7d5f15a499e" /><Relationship Type="http://schemas.openxmlformats.org/officeDocument/2006/relationships/notesSlide" Target="/ppt/notesSlides/notesSlide51.xml" Id="R507cda199b3447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F6E3A654-B381-4A57-8FCF-9E388B0E5B3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p xmlns:a="http://schemas.openxmlformats.org/drawingml/2006/main">
            <a:pPr marL="0" lvl="0" indent="0" algn="ctr">
              <a:spcBef>
                <a:spcPts val="0"/>
              </a:spcBef>
              <a:spcAft>
                <a:spcPts val="0"/>
              </a:spcAft>
              <a:buNone/>
            </a:pPr>
            <a:r>
              <a:t>Hatch 2027</a:t>
            </a:r>
            <a:endParaRPr/>
          </a:p>
        </p:txBody>
      </p:sp>
      <p:sp>
        <p:nvSpPr>
          <p:cNvPr id="55" name="Google Shape;55;p13">
            <a:extLst xmlns:a="http://schemas.openxmlformats.org/drawingml/2006/main">
              <a:ext uri="{FF2B5EF4-FFF2-40B4-BE49-F238E27FC236}">
                <a16:creationId xmlns:a16="http://schemas.microsoft.com/office/drawing/2014/main" id="{E1620414-13BB-4E45-BF98-91D41170140D}"/>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ctr">
              <a:spcBef>
                <a:spcPts val="0"/>
              </a:spcBef>
              <a:spcAft>
                <a:spcPts val="0"/>
              </a:spcAft>
              <a:buNone/>
            </a:pPr>
            <a:r>
              <a:t>Building skills that work for you</a:t>
            </a:r>
            <a:endParaRPr/>
          </a:p>
        </p:txBody>
      </p:sp>
    </p:spTree>
    <p:extLst>
      <p:ext uri="{BB962C8B-B14F-4D97-AF65-F5344CB8AC3E}">
        <p14:creationId xmlns:p14="http://schemas.microsoft.com/office/powerpoint/2010/main" val="1444171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14">
            <a:extLst xmlns:a="http://schemas.openxmlformats.org/drawingml/2006/main">
              <a:ext uri="{FF2B5EF4-FFF2-40B4-BE49-F238E27FC236}">
                <a16:creationId xmlns:a16="http://schemas.microsoft.com/office/drawing/2014/main" id="{4F43662D-5098-4156-AEE0-45C58A8D290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Skills I use</a:t>
            </a:r>
            <a:endParaRPr/>
          </a:p>
        </p:txBody>
      </p:sp>
      <p:sp>
        <p:nvSpPr>
          <p:cNvPr id="61" name="Google Shape;61;p14">
            <a:extLst xmlns:a="http://schemas.openxmlformats.org/drawingml/2006/main">
              <a:ext uri="{FF2B5EF4-FFF2-40B4-BE49-F238E27FC236}">
                <a16:creationId xmlns:a16="http://schemas.microsoft.com/office/drawing/2014/main" id="{B5FFD373-9362-4659-A800-C3F3AC4985B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b="1"/>
              <a:t>Sunlight</a:t>
            </a:r>
            <a:endParaRPr b="1"/>
          </a:p>
          <a:p xmlns:a="http://schemas.openxmlformats.org/drawingml/2006/main">
            <a:pPr marL="0" lvl="0" indent="0" algn="l">
              <a:spcBef>
                <a:spcPts val="1200"/>
              </a:spcBef>
              <a:spcAft>
                <a:spcPts val="1200"/>
              </a:spcAft>
              <a:buNone/>
            </a:pPr>
            <a:r>
              <a:t>Research, design QA, and recurring analysis</a:t>
            </a:r>
            <a:endParaRPr/>
          </a:p>
        </p:txBody>
      </p:sp>
    </p:spTree>
    <p:extLst>
      <p:ext uri="{BB962C8B-B14F-4D97-AF65-F5344CB8AC3E}">
        <p14:creationId xmlns:p14="http://schemas.microsoft.com/office/powerpoint/2010/main" val="16429977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6" name="Google Shape;66;p15">
            <a:extLst xmlns:a="http://schemas.openxmlformats.org/drawingml/2006/main">
              <a:ext uri="{FF2B5EF4-FFF2-40B4-BE49-F238E27FC236}">
                <a16:creationId xmlns:a16="http://schemas.microsoft.com/office/drawing/2014/main" id="{7C235759-9ABD-4D42-B5F4-D03CBEAFEB2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marL="0" lvl="0" indent="0" algn="l">
              <a:spcBef>
                <a:spcPts val="0"/>
              </a:spcBef>
              <a:spcAft>
                <a:spcPts val="0"/>
              </a:spcAft>
              <a:buNone/>
            </a:pPr>
            <a:r>
              <a:rPr b="1"/>
              <a:t>Research and learning</a:t>
            </a:r>
            <a:endParaRPr b="1"/>
          </a:p>
          <a:p xmlns:a="http://schemas.openxmlformats.org/drawingml/2006/main">
            <a:pPr marL="0" lvl="0" indent="0" algn="l">
              <a:spcBef>
                <a:spcPts val="1200"/>
              </a:spcBef>
              <a:spcAft>
                <a:spcPts val="0"/>
              </a:spcAft>
              <a:buNone/>
            </a:pPr>
            <a:r>
              <a:t>Creative work</a:t>
            </a:r>
            <a:endParaRPr/>
          </a:p>
          <a:p xmlns:a="http://schemas.openxmlformats.org/drawingml/2006/main">
            <a:pPr marL="0" lvl="0" indent="0" algn="l">
              <a:spcBef>
                <a:spcPts val="0"/>
              </a:spcBef>
              <a:spcAft>
                <a:spcPts val="0"/>
              </a:spcAft>
              <a:buNone/>
            </a:pPr>
            <a:r>
              <a:t>Custom workflows</a:t>
            </a:r>
            <a:endParaRPr/>
          </a:p>
        </p:txBody>
      </p:sp>
      <p:sp>
        <p:nvSpPr>
          <p:cNvPr id="67" name="Google Shape;67;p15">
            <a:extLst xmlns:a="http://schemas.openxmlformats.org/drawingml/2006/main">
              <a:ext uri="{FF2B5EF4-FFF2-40B4-BE49-F238E27FC236}">
                <a16:creationId xmlns:a16="http://schemas.microsoft.com/office/drawing/2014/main" id="{5478721A-CC18-491C-9DB8-FFF519A621D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Skills I use</a:t>
            </a:r>
            <a:endParaRPr/>
          </a:p>
        </p:txBody>
      </p:sp>
    </p:spTree>
    <p:extLst>
      <p:ext uri="{BB962C8B-B14F-4D97-AF65-F5344CB8AC3E}">
        <p14:creationId xmlns:p14="http://schemas.microsoft.com/office/powerpoint/2010/main" val="9638657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2" name="Google Shape;72;p16">
            <a:extLst xmlns:a="http://schemas.openxmlformats.org/drawingml/2006/main">
              <a:ext uri="{FF2B5EF4-FFF2-40B4-BE49-F238E27FC236}">
                <a16:creationId xmlns:a16="http://schemas.microsoft.com/office/drawing/2014/main" id="{5576A8E9-AF22-476D-B4E4-9EC66CB52002}"/>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rPr sz="4400"/>
              <a:t>If you had to hire an intern to help you with your job, what would their role be?</a:t>
            </a:r>
            <a:endParaRPr sz="4400"/>
          </a:p>
        </p:txBody>
      </p:sp>
    </p:spTree>
    <p:extLst>
      <p:ext uri="{BB962C8B-B14F-4D97-AF65-F5344CB8AC3E}">
        <p14:creationId xmlns:p14="http://schemas.microsoft.com/office/powerpoint/2010/main" val="5328692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p17">
            <a:extLst xmlns:a="http://schemas.openxmlformats.org/drawingml/2006/main">
              <a:ext uri="{FF2B5EF4-FFF2-40B4-BE49-F238E27FC236}">
                <a16:creationId xmlns:a16="http://schemas.microsoft.com/office/drawing/2014/main" id="{6E5FEAAE-80F8-490B-BCC0-B43992149DF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About me — TODO</a:t>
            </a:r>
            <a:endParaRPr/>
          </a:p>
        </p:txBody>
      </p:sp>
      <p:sp>
        <p:nvSpPr>
          <p:cNvPr id="78" name="Google Shape;78;p17">
            <a:extLst xmlns:a="http://schemas.openxmlformats.org/drawingml/2006/main">
              <a:ext uri="{FF2B5EF4-FFF2-40B4-BE49-F238E27FC236}">
                <a16:creationId xmlns:a16="http://schemas.microsoft.com/office/drawing/2014/main" id="{27A87A1C-D04D-4AB3-86D6-E3B088A1371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spTree>
    <p:extLst>
      <p:ext uri="{BB962C8B-B14F-4D97-AF65-F5344CB8AC3E}">
        <p14:creationId xmlns:p14="http://schemas.microsoft.com/office/powerpoint/2010/main" val="9207818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p18">
            <a:extLst xmlns:a="http://schemas.openxmlformats.org/drawingml/2006/main">
              <a:ext uri="{FF2B5EF4-FFF2-40B4-BE49-F238E27FC236}">
                <a16:creationId xmlns:a16="http://schemas.microsoft.com/office/drawing/2014/main" id="{63B731D4-DE2C-4830-9D07-0486CBA83BF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My projects — TODO</a:t>
            </a:r>
            <a:endParaRPr/>
          </a:p>
        </p:txBody>
      </p:sp>
      <p:sp>
        <p:nvSpPr>
          <p:cNvPr id="84" name="Google Shape;84;p18">
            <a:extLst xmlns:a="http://schemas.openxmlformats.org/drawingml/2006/main">
              <a:ext uri="{FF2B5EF4-FFF2-40B4-BE49-F238E27FC236}">
                <a16:creationId xmlns:a16="http://schemas.microsoft.com/office/drawing/2014/main" id="{087F2DEE-84E0-420C-8B15-97F18B4C218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spTree>
    <p:extLst>
      <p:ext uri="{BB962C8B-B14F-4D97-AF65-F5344CB8AC3E}">
        <p14:creationId xmlns:p14="http://schemas.microsoft.com/office/powerpoint/2010/main" val="20966975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9">
            <a:extLst xmlns:a="http://schemas.openxmlformats.org/drawingml/2006/main">
              <a:ext uri="{FF2B5EF4-FFF2-40B4-BE49-F238E27FC236}">
                <a16:creationId xmlns:a16="http://schemas.microsoft.com/office/drawing/2014/main" id="{8776E269-7898-4493-8C79-3607A9CF142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Agenda</a:t>
            </a:r>
            <a:endParaRPr/>
          </a:p>
        </p:txBody>
      </p:sp>
      <p:sp>
        <p:nvSpPr>
          <p:cNvPr id="90" name="Google Shape;90;p19">
            <a:extLst xmlns:a="http://schemas.openxmlformats.org/drawingml/2006/main">
              <a:ext uri="{FF2B5EF4-FFF2-40B4-BE49-F238E27FC236}">
                <a16:creationId xmlns:a16="http://schemas.microsoft.com/office/drawing/2014/main" id="{7255691A-6E13-4E3D-A666-82F759A0314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spcBef>
                <a:spcPts val="0"/>
              </a:spcBef>
              <a:spcAft>
                <a:spcPts val="1200"/>
              </a:spcAft>
              <a:buNone/>
            </a:pPr>
            <a:r>
              <a:t/>
            </a:r>
            <a:endParaRPr/>
          </a:p>
        </p:txBody>
      </p:sp>
      <p:sp>
        <p:nvSpPr>
          <p:cNvPr id="91" name="">
            <a:extLst xmlns:a="http://schemas.openxmlformats.org/drawingml/2006/main">
              <a:ext uri="{FF2B5EF4-FFF2-40B4-BE49-F238E27FC236}">
                <a16:creationId xmlns:a16="http://schemas.microsoft.com/office/drawing/2014/main" id="{82D94806-ABB5-441B-9BBE-308AA7BD95D3}"/>
              </a:ext>
            </a:extLst>
          </p:cNvPr>
          <p:cNvSpPr>
            <a:spLocks xmlns:a="http://schemas.openxmlformats.org/drawingml/2006/main" noGrp="1"/>
          </p:cNvSpPr>
          <p:nvPr/>
        </p:nvSpPr>
        <p:spPr>
          <a:xfrm xmlns:a="http://schemas.openxmlformats.org/drawingml/2006/main">
            <a:off x="311658" y="1333500"/>
            <a:ext cx="8520589"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000000"/>
                </a:solidFill>
                <a:latin typeface="Arial"/>
                <a:ea typeface="Arial"/>
                <a:cs typeface="Arial"/>
              </a:defRPr>
            </a:pPr>
            <a:r>
              <a:rPr sz="2100">
                <a:solidFill>
                  <a:srgbClr val="000000"/>
                </a:solidFill>
                <a:latin typeface="Arial"/>
                <a:ea typeface="Arial"/>
                <a:cs typeface="Arial"/>
              </a:rPr>
              <a:t>Try the tools</a:t>
            </a:r>
          </a:p>
          <a:p xmlns:a="http://schemas.openxmlformats.org/drawingml/2006/main">
            <a:pPr>
              <a:defRPr sz="2100">
                <a:solidFill>
                  <a:srgbClr val="000000"/>
                </a:solidFill>
                <a:latin typeface="Arial"/>
                <a:ea typeface="Arial"/>
                <a:cs typeface="Arial"/>
              </a:defRPr>
            </a:pPr>
            <a:r>
              <a:rPr sz="2100">
                <a:solidFill>
                  <a:srgbClr val="000000"/>
                </a:solidFill>
                <a:latin typeface="Arial"/>
                <a:ea typeface="Arial"/>
                <a:cs typeface="Arial"/>
              </a:rPr>
              <a:t>Build a skill through three versions</a:t>
            </a:r>
          </a:p>
          <a:p xmlns:a="http://schemas.openxmlformats.org/drawingml/2006/main">
            <a:pPr>
              <a:defRPr sz="2100">
                <a:solidFill>
                  <a:srgbClr val="000000"/>
                </a:solidFill>
                <a:latin typeface="Arial"/>
                <a:ea typeface="Arial"/>
                <a:cs typeface="Arial"/>
              </a:defRPr>
            </a:pPr>
            <a:r>
              <a:rPr sz="2100">
                <a:solidFill>
                  <a:srgbClr val="000000"/>
                </a:solidFill>
                <a:latin typeface="Arial"/>
                <a:ea typeface="Arial"/>
                <a:cs typeface="Arial"/>
              </a:rPr>
              <a:t>Choose your next workflow</a:t>
            </a:r>
          </a:p>
        </p:txBody>
      </p:sp>
    </p:spTree>
    <p:extLst>
      <p:ext uri="{BB962C8B-B14F-4D97-AF65-F5344CB8AC3E}">
        <p14:creationId xmlns:p14="http://schemas.microsoft.com/office/powerpoint/2010/main" val="158690052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D1F04695-359C-4BAD-A27A-693E5F7EC1E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Tech Check</a:t>
            </a:r>
            <a:endParaRPr/>
          </a:p>
        </p:txBody>
      </p:sp>
      <p:sp>
        <p:nvSpPr>
          <p:cNvPr id="96" name="Google Shape;96;p20">
            <a:extLst xmlns:a="http://schemas.openxmlformats.org/drawingml/2006/main">
              <a:ext uri="{FF2B5EF4-FFF2-40B4-BE49-F238E27FC236}">
                <a16:creationId xmlns:a16="http://schemas.microsoft.com/office/drawing/2014/main" id="{5D866559-662B-4010-A6B3-901339F150C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A laptop, browser, and coding agent</a:t>
            </a:r>
            <a:endParaRPr/>
          </a:p>
          <a:p xmlns:a="http://schemas.openxmlformats.org/drawingml/2006/main">
            <a:pPr marL="457200" lvl="0" indent="-342900" algn="l">
              <a:spcBef>
                <a:spcPts val="0"/>
              </a:spcBef>
              <a:spcAft>
                <a:spcPts val="0"/>
              </a:spcAft>
              <a:buSzPts val="1800"/>
              <a:buChar char="●"/>
            </a:pPr>
            <a:r>
              <a:t>Access to the workshop files</a:t>
            </a:r>
            <a:endParaRPr/>
          </a:p>
          <a:p xmlns:a="http://schemas.openxmlformats.org/drawingml/2006/main">
            <a:pPr marL="457200" lvl="0" indent="-342900" algn="l">
              <a:spcBef>
                <a:spcPts val="0"/>
              </a:spcBef>
              <a:spcAft>
                <a:spcPts val="0"/>
              </a:spcAft>
              <a:buSzPts val="1800"/>
              <a:buChar char="●"/>
            </a:pPr>
            <a:r>
              <a:t>A shared reference and model</a:t>
            </a:r>
            <a:endParaRPr/>
          </a:p>
        </p:txBody>
      </p:sp>
    </p:spTree>
    <p:extLst>
      <p:ext uri="{BB962C8B-B14F-4D97-AF65-F5344CB8AC3E}">
        <p14:creationId xmlns:p14="http://schemas.microsoft.com/office/powerpoint/2010/main" val="14537394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1" name="Google Shape;101;p21">
            <a:extLst xmlns:a="http://schemas.openxmlformats.org/drawingml/2006/main">
              <a:ext uri="{FF2B5EF4-FFF2-40B4-BE49-F238E27FC236}">
                <a16:creationId xmlns:a16="http://schemas.microsoft.com/office/drawing/2014/main" id="{9333E0CC-ACDB-4B41-86E5-EEC917CD8C04}"/>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ctr">
              <a:spcBef>
                <a:spcPts val="0"/>
              </a:spcBef>
              <a:spcAft>
                <a:spcPts val="0"/>
              </a:spcAft>
              <a:buNone/>
            </a:pPr>
            <a:r>
              <a:t>Intro to Codex &amp; Claude Code</a:t>
            </a:r>
            <a:endParaRPr/>
          </a:p>
        </p:txBody>
      </p:sp>
    </p:spTree>
    <p:extLst>
      <p:ext uri="{BB962C8B-B14F-4D97-AF65-F5344CB8AC3E}">
        <p14:creationId xmlns:p14="http://schemas.microsoft.com/office/powerpoint/2010/main" val="18728388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6" name="Google Shape;106;p22">
            <a:extLst xmlns:a="http://schemas.openxmlformats.org/drawingml/2006/main">
              <a:ext uri="{FF2B5EF4-FFF2-40B4-BE49-F238E27FC236}">
                <a16:creationId xmlns:a16="http://schemas.microsoft.com/office/drawing/2014/main" id="{55AF5EFA-5B09-44C2-93D9-39DA7FF6DA5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A working folder and a fresh task</a:t>
            </a:r>
            <a:endParaRPr/>
          </a:p>
        </p:txBody>
      </p:sp>
      <p:sp>
        <p:nvSpPr>
          <p:cNvPr id="107" name="Google Shape;107;p22">
            <a:extLst xmlns:a="http://schemas.openxmlformats.org/drawingml/2006/main">
              <a:ext uri="{FF2B5EF4-FFF2-40B4-BE49-F238E27FC236}">
                <a16:creationId xmlns:a16="http://schemas.microsoft.com/office/drawing/2014/main" id="{2751718E-2265-493C-ACCB-D2664B2FB74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Your agent works with the files you give it</a:t>
            </a:r>
            <a:endParaRPr/>
          </a:p>
          <a:p xmlns:a="http://schemas.openxmlformats.org/drawingml/2006/main">
            <a:pPr marL="457200" lvl="0" indent="-342900" algn="l">
              <a:spcBef>
                <a:spcPts val="0"/>
              </a:spcBef>
              <a:spcAft>
                <a:spcPts val="0"/>
              </a:spcAft>
              <a:buSzPts val="1800"/>
              <a:buChar char="●"/>
            </a:pPr>
            <a:r>
              <a:t>Preview changes in the browser</a:t>
            </a:r>
            <a:endParaRPr/>
          </a:p>
          <a:p xmlns:a="http://schemas.openxmlformats.org/drawingml/2006/main">
            <a:pPr marL="457200" lvl="0" indent="-342900" algn="l">
              <a:spcBef>
                <a:spcPts val="0"/>
              </a:spcBef>
              <a:spcAft>
                <a:spcPts val="0"/>
              </a:spcAft>
              <a:buSzPts val="1800"/>
              <a:buChar char="●"/>
            </a:pPr>
            <a:r>
              <a:t>Start a fresh task when testing a skill</a:t>
            </a:r>
            <a:endParaRPr/>
          </a:p>
        </p:txBody>
      </p:sp>
    </p:spTree>
    <p:extLst>
      <p:ext uri="{BB962C8B-B14F-4D97-AF65-F5344CB8AC3E}">
        <p14:creationId xmlns:p14="http://schemas.microsoft.com/office/powerpoint/2010/main" val="3356311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12" name="Google Shape;112;p23">
            <a:extLst xmlns:a="http://schemas.openxmlformats.org/drawingml/2006/main">
              <a:ext uri="{FF2B5EF4-FFF2-40B4-BE49-F238E27FC236}">
                <a16:creationId xmlns:a16="http://schemas.microsoft.com/office/drawing/2014/main" id="{F79D3769-7CC3-4D06-A56E-1741BF64E09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ctr">
              <a:spcBef>
                <a:spcPts val="0"/>
              </a:spcBef>
              <a:spcAft>
                <a:spcPts val="0"/>
              </a:spcAft>
              <a:buNone/>
            </a:pPr>
            <a:r>
              <a:t>Tools of AI</a:t>
            </a:r>
            <a:endParaRPr/>
          </a:p>
        </p:txBody>
      </p:sp>
      <p:sp>
        <p:nvSpPr>
          <p:cNvPr id="113" name="Google Shape;113;p23">
            <a:extLst xmlns:a="http://schemas.openxmlformats.org/drawingml/2006/main">
              <a:ext uri="{FF2B5EF4-FFF2-40B4-BE49-F238E27FC236}">
                <a16:creationId xmlns:a16="http://schemas.microsoft.com/office/drawing/2014/main" id="{A336C1A4-9268-4505-B96D-D5EA35C26CD9}"/>
              </a:ext>
            </a:extLst>
          </p:cNvPr>
          <p:cNvSpPr>
            <a:spLocks xmlns:a="http://schemas.openxmlformats.org/drawingml/2006/main" noGrp="1"/>
          </p:cNvSpPr>
          <p:nvPr/>
        </p:nvSpPr>
        <p:spPr>
          <a:xfrm xmlns:a="http://schemas.openxmlformats.org/drawingml/2006/main">
            <a:off x="7270150" y="194775"/>
            <a:ext cx="1703400" cy="290700"/>
          </a:xfrm>
          <a:prstGeom xmlns:a="http://schemas.openxmlformats.org/drawingml/2006/main" prst="roundRect">
            <a:avLst>
              <a:gd name="adj" fmla="val 50000"/>
            </a:avLst>
          </a:prstGeom>
          <a:solidFill xmlns:a="http://schemas.openxmlformats.org/drawingml/2006/main">
            <a:schemeClr val="lt1"/>
          </a:solidFill>
          <a:ln xmlns:a="http://schemas.openxmlformats.org/drawingml/2006/main" w="9525" cmpd="sng">
            <a:solidFill>
              <a:schemeClr val="dk2"/>
            </a:solidFill>
            <a:prstDash val="dot"/>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1200">
                <a:latin typeface="Instrument Serif"/>
                <a:ea typeface="Instrument Serif"/>
                <a:cs typeface="Instrument Serif"/>
              </a:rPr>
              <a:t>Beginner Friendly</a:t>
            </a:r>
            <a:endParaRPr sz="1200">
              <a:latin typeface="Instrument Serif"/>
              <a:ea typeface="Instrument Serif"/>
              <a:cs typeface="Instrument Serif"/>
            </a:endParaRPr>
          </a:p>
        </p:txBody>
      </p:sp>
    </p:spTree>
    <p:extLst>
      <p:ext uri="{BB962C8B-B14F-4D97-AF65-F5344CB8AC3E}">
        <p14:creationId xmlns:p14="http://schemas.microsoft.com/office/powerpoint/2010/main" val="4423643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8" name="Google Shape;118;p24">
            <a:extLst xmlns:a="http://schemas.openxmlformats.org/drawingml/2006/main">
              <a:ext uri="{FF2B5EF4-FFF2-40B4-BE49-F238E27FC236}">
                <a16:creationId xmlns:a16="http://schemas.microsoft.com/office/drawing/2014/main" id="{F318C16E-5EF8-4D3D-BE4F-08FEF5B924D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t>Workshop files</a:t>
            </a:r>
            <a:endParaRPr/>
          </a:p>
          <a:p xmlns:a="http://schemas.openxmlformats.org/drawingml/2006/main">
            <a:pPr marL="0" lvl="0" indent="0" algn="l">
              <a:spcBef>
                <a:spcPts val="0"/>
              </a:spcBef>
              <a:spcAft>
                <a:spcPts val="0"/>
              </a:spcAft>
              <a:buNone/>
            </a:pPr>
            <a:r>
              <a:t>github.com/aswinckr/Hatch</a:t>
            </a:r>
            <a:endParaRPr/>
          </a:p>
        </p:txBody>
      </p:sp>
    </p:spTree>
    <p:extLst>
      <p:ext uri="{BB962C8B-B14F-4D97-AF65-F5344CB8AC3E}">
        <p14:creationId xmlns:p14="http://schemas.microsoft.com/office/powerpoint/2010/main" val="15963777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4" name="Google Shape;124;p25">
            <a:extLst xmlns:a="http://schemas.openxmlformats.org/drawingml/2006/main">
              <a:ext uri="{FF2B5EF4-FFF2-40B4-BE49-F238E27FC236}">
                <a16:creationId xmlns:a16="http://schemas.microsoft.com/office/drawing/2014/main" id="{FDE3BCD4-C377-4C6C-9428-A549BF9C85A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A Harness enables AI models to take action</a:t>
            </a:r>
            <a:endParaRPr/>
          </a:p>
        </p:txBody>
      </p:sp>
      <p:pic>
        <p:nvPicPr>
          <p:cNvPr id="127" name="Google Shape;125;p25"/>
          <p:cNvPicPr>
            <a:picLocks xmlns:a="http://schemas.openxmlformats.org/drawingml/2006/main" noChangeAspect="1"/>
          </p:cNvPicPr>
          <p:nvPr/>
        </p:nvPicPr>
        <p:blipFill>
          <a:blip xmlns:r="http://schemas.openxmlformats.org/officeDocument/2006/relationships" xmlns:a="http://schemas.openxmlformats.org/drawingml/2006/main" r:embed="R08788ecd131b4591">
            <a:alphaModFix/>
          </a:blip>
          <a:stretch xmlns:a="http://schemas.openxmlformats.org/drawingml/2006/main">
            <a:fillRect l="0" t="0" r="0" b="0"/>
          </a:stretch>
        </p:blipFill>
        <p:spPr>
          <a:xfrm xmlns:a="http://schemas.openxmlformats.org/drawingml/2006/main">
            <a:off x="1489675" y="1138900"/>
            <a:ext cx="6294077" cy="35422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3332399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0" name="Google Shape;130;p26">
            <a:extLst xmlns:a="http://schemas.openxmlformats.org/drawingml/2006/main">
              <a:ext uri="{FF2B5EF4-FFF2-40B4-BE49-F238E27FC236}">
                <a16:creationId xmlns:a16="http://schemas.microsoft.com/office/drawing/2014/main" id="{8197ED8A-4B7D-410F-B10A-E77654BE4078}"/>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t>Skills are reusable instruction files your agent can read when a task matches</a:t>
            </a:r>
            <a:endParaRPr/>
          </a:p>
        </p:txBody>
      </p:sp>
      <p:sp>
        <p:nvSpPr>
          <p:cNvPr id="131" name="Google Shape;131;p26">
            <a:extLst xmlns:a="http://schemas.openxmlformats.org/drawingml/2006/main">
              <a:ext uri="{FF2B5EF4-FFF2-40B4-BE49-F238E27FC236}">
                <a16:creationId xmlns:a16="http://schemas.microsoft.com/office/drawing/2014/main" id="{EC976F7A-6744-452B-9875-2568C32194C7}"/>
              </a:ext>
            </a:extLst>
          </p:cNvPr>
          <p:cNvSpPr>
            <a:spLocks xmlns:a="http://schemas.openxmlformats.org/drawingml/2006/main" noGrp="1"/>
          </p:cNvSpPr>
          <p:nvPr/>
        </p:nvSpPr>
        <p:spPr>
          <a:xfrm xmlns:a="http://schemas.openxmlformats.org/drawingml/2006/main">
            <a:off x="546275" y="304650"/>
            <a:ext cx="6454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chemeClr val="dk2"/>
                </a:solidFill>
                <a:latin typeface="Instrument Serif"/>
                <a:ea typeface="Instrument Serif"/>
                <a:cs typeface="Instrument Serif"/>
              </a:rPr>
              <a:t>CONCEPT #1</a:t>
            </a:r>
            <a:endParaRPr sz="1800" b="1">
              <a:solidFill>
                <a:schemeClr val="dk2"/>
              </a:solidFill>
              <a:latin typeface="Instrument Serif"/>
              <a:ea typeface="Instrument Serif"/>
              <a:cs typeface="Instrument Serif"/>
            </a:endParaRPr>
          </a:p>
        </p:txBody>
      </p:sp>
    </p:spTree>
    <p:extLst>
      <p:ext uri="{BB962C8B-B14F-4D97-AF65-F5344CB8AC3E}">
        <p14:creationId xmlns:p14="http://schemas.microsoft.com/office/powerpoint/2010/main" val="108103204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36" name="Google Shape;136;p27">
            <a:extLst xmlns:a="http://schemas.openxmlformats.org/drawingml/2006/main">
              <a:ext uri="{FF2B5EF4-FFF2-40B4-BE49-F238E27FC236}">
                <a16:creationId xmlns:a16="http://schemas.microsoft.com/office/drawing/2014/main" id="{F7A7DB91-E7EA-42AC-97A8-D6E2B1E55F0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Skills Demo</a:t>
            </a:r>
            <a:endParaRPr/>
          </a:p>
        </p:txBody>
      </p:sp>
      <p:sp>
        <p:nvSpPr>
          <p:cNvPr id="137" name="Google Shape;137;p27">
            <a:extLst xmlns:a="http://schemas.openxmlformats.org/drawingml/2006/main">
              <a:ext uri="{FF2B5EF4-FFF2-40B4-BE49-F238E27FC236}">
                <a16:creationId xmlns:a16="http://schemas.microsoft.com/office/drawing/2014/main" id="{73C95013-6BE8-44C2-B3B4-B56DA565D05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spcBef>
                <a:spcPts val="0"/>
              </a:spcBef>
              <a:spcAft>
                <a:spcPts val="0"/>
              </a:spcAft>
              <a:buSzPts val="1800"/>
              <a:buChar char="❏"/>
            </a:pPr>
            <a:r>
              <a:rPr u="sng">
                <a:solidFill>
                  <a:schemeClr val="hlink"/>
                </a:solidFill>
                <a:hlinkClick xmlns:r="http://schemas.openxmlformats.org/officeDocument/2006/relationships" r:id="R92912f8ee1674597"/>
              </a:rPr>
              <a:t>Finding a skill</a:t>
            </a:r>
            <a:endParaRPr/>
          </a:p>
          <a:p xmlns:a="http://schemas.openxmlformats.org/drawingml/2006/main">
            <a:pPr marL="457200" lvl="0" indent="-342900" algn="l">
              <a:spcBef>
                <a:spcPts val="0"/>
              </a:spcBef>
              <a:spcAft>
                <a:spcPts val="0"/>
              </a:spcAft>
              <a:buSzPts val="1800"/>
              <a:buChar char="❏"/>
            </a:pPr>
            <a:r>
              <a:t>Installing a skill</a:t>
            </a:r>
            <a:endParaRPr/>
          </a:p>
          <a:p xmlns:a="http://schemas.openxmlformats.org/drawingml/2006/main">
            <a:pPr marL="457200" lvl="0" indent="-342900" algn="l">
              <a:spcBef>
                <a:spcPts val="0"/>
              </a:spcBef>
              <a:spcAft>
                <a:spcPts val="0"/>
              </a:spcAft>
              <a:buSzPts val="1800"/>
              <a:buChar char="❏"/>
            </a:pPr>
            <a:r>
              <a:t>Running a skill</a:t>
            </a:r>
            <a:endParaRPr/>
          </a:p>
        </p:txBody>
      </p:sp>
    </p:spTree>
    <p:extLst>
      <p:ext uri="{BB962C8B-B14F-4D97-AF65-F5344CB8AC3E}">
        <p14:creationId xmlns:p14="http://schemas.microsoft.com/office/powerpoint/2010/main" val="49032702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2" name="Google Shape;142;p28">
            <a:extLst xmlns:a="http://schemas.openxmlformats.org/drawingml/2006/main">
              <a:ext uri="{FF2B5EF4-FFF2-40B4-BE49-F238E27FC236}">
                <a16:creationId xmlns:a16="http://schemas.microsoft.com/office/drawing/2014/main" id="{1983C6AB-50C3-4FFE-AB70-68C6F3C75AC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rPr sz="2600"/>
              <a:t>Your Turn:</a:t>
            </a:r>
            <a:endParaRPr sz="2600"/>
          </a:p>
          <a:p xmlns:a="http://schemas.openxmlformats.org/drawingml/2006/main">
            <a:pPr marL="0" lvl="0" indent="0" algn="l">
              <a:spcBef>
                <a:spcPts val="0"/>
              </a:spcBef>
              <a:spcAft>
                <a:spcPts val="0"/>
              </a:spcAft>
              <a:buNone/>
            </a:pPr>
            <a:r>
              <a:t>Install </a:t>
            </a:r>
            <a:r>
              <a:t>impeccable skill and redesign the starter site</a:t>
            </a:r>
            <a:endParaRPr/>
          </a:p>
        </p:txBody>
      </p:sp>
    </p:spTree>
    <p:extLst>
      <p:ext uri="{BB962C8B-B14F-4D97-AF65-F5344CB8AC3E}">
        <p14:creationId xmlns:p14="http://schemas.microsoft.com/office/powerpoint/2010/main" val="17008751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7" name="Google Shape;147;p29">
            <a:extLst xmlns:a="http://schemas.openxmlformats.org/drawingml/2006/main">
              <a:ext uri="{FF2B5EF4-FFF2-40B4-BE49-F238E27FC236}">
                <a16:creationId xmlns:a16="http://schemas.microsoft.com/office/drawing/2014/main" id="{0F328068-7127-4F30-A380-5605F5E0277A}"/>
              </a:ext>
            </a:extLst>
          </p:cNvPr>
          <p:cNvSpPr>
            <a:spLocks xmlns:a="http://schemas.openxmlformats.org/drawingml/2006/main" noGrp="1"/>
          </p:cNvSpPr>
          <p:nvPr>
            <p:ph type="title" idx="0"/>
          </p:nvPr>
        </p:nvSpPr>
        <p:spPr>
          <a:xfrm xmlns:a="http://schemas.openxmlformats.org/drawingml/2006/main">
            <a:off x="490250" y="450150"/>
            <a:ext cx="36345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900"/>
              <a:t>Subagents can handle a focused task separately</a:t>
            </a:r>
            <a:endParaRPr sz="2900"/>
          </a:p>
        </p:txBody>
      </p:sp>
      <p:pic>
        <p:nvPicPr>
          <p:cNvPr id="152" name="Google Shape;148;p29"/>
          <p:cNvPicPr>
            <a:picLocks xmlns:a="http://schemas.openxmlformats.org/drawingml/2006/main" noChangeAspect="1"/>
          </p:cNvPicPr>
          <p:nvPr/>
        </p:nvPicPr>
        <p:blipFill>
          <a:blip xmlns:r="http://schemas.openxmlformats.org/officeDocument/2006/relationships" xmlns:a="http://schemas.openxmlformats.org/drawingml/2006/main" r:embed="R73a04a66b1fd4110">
            <a:alphaModFix/>
          </a:blip>
          <a:stretch xmlns:a="http://schemas.openxmlformats.org/drawingml/2006/main">
            <a:fillRect l="0" t="0" r="0" b="0"/>
          </a:stretch>
        </p:blipFill>
        <p:spPr>
          <a:xfrm xmlns:a="http://schemas.openxmlformats.org/drawingml/2006/main">
            <a:off x="3802375" y="951387"/>
            <a:ext cx="5219424" cy="2935926"/>
          </a:xfrm>
          <a:prstGeom xmlns:a="http://schemas.openxmlformats.org/drawingml/2006/main" prst="rect">
            <a:avLst/>
          </a:prstGeom>
          <a:ln xmlns:a="http://schemas.openxmlformats.org/drawingml/2006/main">
            <a:noFill/>
          </a:ln>
        </p:spPr>
      </p:pic>
      <p:sp>
        <p:nvSpPr>
          <p:cNvPr id="149" name="Google Shape;149;p29">
            <a:extLst xmlns:a="http://schemas.openxmlformats.org/drawingml/2006/main">
              <a:ext uri="{FF2B5EF4-FFF2-40B4-BE49-F238E27FC236}">
                <a16:creationId xmlns:a16="http://schemas.microsoft.com/office/drawing/2014/main" id="{1AD7C029-8C51-48D1-82D6-E38EDBB3F53B}"/>
              </a:ext>
            </a:extLst>
          </p:cNvPr>
          <p:cNvSpPr>
            <a:spLocks xmlns:a="http://schemas.openxmlformats.org/drawingml/2006/main" noGrp="1"/>
          </p:cNvSpPr>
          <p:nvPr/>
        </p:nvSpPr>
        <p:spPr>
          <a:xfrm xmlns:a="http://schemas.openxmlformats.org/drawingml/2006/main">
            <a:off x="546275" y="304650"/>
            <a:ext cx="6454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chemeClr val="dk2"/>
                </a:solidFill>
                <a:latin typeface="Instrument Serif"/>
                <a:ea typeface="Instrument Serif"/>
                <a:cs typeface="Instrument Serif"/>
              </a:rPr>
              <a:t>CONCEPT #2</a:t>
            </a:r>
            <a:endParaRPr sz="1800" b="1">
              <a:solidFill>
                <a:schemeClr val="dk2"/>
              </a:solidFill>
              <a:latin typeface="Instrument Serif"/>
              <a:ea typeface="Instrument Serif"/>
              <a:cs typeface="Instrument Serif"/>
            </a:endParaRPr>
          </a:p>
        </p:txBody>
      </p:sp>
    </p:spTree>
    <p:extLst>
      <p:ext uri="{BB962C8B-B14F-4D97-AF65-F5344CB8AC3E}">
        <p14:creationId xmlns:p14="http://schemas.microsoft.com/office/powerpoint/2010/main" val="91755196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30">
            <a:extLst xmlns:a="http://schemas.openxmlformats.org/drawingml/2006/main">
              <a:ext uri="{FF2B5EF4-FFF2-40B4-BE49-F238E27FC236}">
                <a16:creationId xmlns:a16="http://schemas.microsoft.com/office/drawing/2014/main" id="{A43D4CD7-DEFB-4776-8F65-EA43C709CDA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Subagents Demo</a:t>
            </a:r>
            <a:endParaRPr/>
          </a:p>
        </p:txBody>
      </p:sp>
      <p:sp>
        <p:nvSpPr>
          <p:cNvPr id="155" name="Google Shape;155;p30">
            <a:extLst xmlns:a="http://schemas.openxmlformats.org/drawingml/2006/main">
              <a:ext uri="{FF2B5EF4-FFF2-40B4-BE49-F238E27FC236}">
                <a16:creationId xmlns:a16="http://schemas.microsoft.com/office/drawing/2014/main" id="{B31E7B9A-1D52-4C4F-AC0D-8CF96B444B9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spcBef>
                <a:spcPts val="0"/>
              </a:spcBef>
              <a:spcAft>
                <a:spcPts val="0"/>
              </a:spcAft>
              <a:buSzPts val="1800"/>
              <a:buChar char="❏"/>
            </a:pPr>
            <a:r>
              <a:t>Creating a subagent</a:t>
            </a:r>
            <a:endParaRPr/>
          </a:p>
          <a:p xmlns:a="http://schemas.openxmlformats.org/drawingml/2006/main">
            <a:pPr marL="457200" lvl="0" indent="-342900" algn="l">
              <a:spcBef>
                <a:spcPts val="0"/>
              </a:spcBef>
              <a:spcAft>
                <a:spcPts val="0"/>
              </a:spcAft>
              <a:buSzPts val="1800"/>
              <a:buChar char="❏"/>
            </a:pPr>
            <a:r>
              <a:t>Calling a subagent</a:t>
            </a:r>
            <a:endParaRPr/>
          </a:p>
        </p:txBody>
      </p:sp>
    </p:spTree>
    <p:extLst>
      <p:ext uri="{BB962C8B-B14F-4D97-AF65-F5344CB8AC3E}">
        <p14:creationId xmlns:p14="http://schemas.microsoft.com/office/powerpoint/2010/main" val="62979102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60" name="Google Shape;160;p31">
            <a:extLst xmlns:a="http://schemas.openxmlformats.org/drawingml/2006/main">
              <a:ext uri="{FF2B5EF4-FFF2-40B4-BE49-F238E27FC236}">
                <a16:creationId xmlns:a16="http://schemas.microsoft.com/office/drawing/2014/main" id="{1A74FC78-BAF1-41D0-A70B-3FC4C27D2311}"/>
              </a:ext>
            </a:extLst>
          </p:cNvPr>
          <p:cNvSpPr>
            <a:spLocks xmlns:a="http://schemas.openxmlformats.org/drawingml/2006/main" noGrp="1"/>
          </p:cNvSpPr>
          <p:nvPr>
            <p:ph type="title" idx="0"/>
          </p:nvPr>
        </p:nvSpPr>
        <p:spPr>
          <a:xfrm xmlns:a="http://schemas.openxmlformats.org/drawingml/2006/main">
            <a:off x="490250" y="450150"/>
            <a:ext cx="79713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600"/>
              <a:t>Your turn</a:t>
            </a:r>
            <a:endParaRPr sz="2600"/>
          </a:p>
          <a:p xmlns:a="http://schemas.openxmlformats.org/drawingml/2006/main">
            <a:pPr marL="0" lvl="0" indent="0" algn="l">
              <a:spcBef>
                <a:spcPts val="0"/>
              </a:spcBef>
              <a:spcAft>
                <a:spcPts val="0"/>
              </a:spcAft>
              <a:buNone/>
            </a:pPr>
            <a:r>
              <a:rPr sz="3600"/>
              <a:t>Review the page from a first-time visitor’s perspective</a:t>
            </a:r>
            <a:endParaRPr sz="3600"/>
          </a:p>
        </p:txBody>
      </p:sp>
    </p:spTree>
    <p:extLst>
      <p:ext uri="{BB962C8B-B14F-4D97-AF65-F5344CB8AC3E}">
        <p14:creationId xmlns:p14="http://schemas.microsoft.com/office/powerpoint/2010/main" val="18783434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65" name="Google Shape;165;p32">
            <a:extLst xmlns:a="http://schemas.openxmlformats.org/drawingml/2006/main">
              <a:ext uri="{FF2B5EF4-FFF2-40B4-BE49-F238E27FC236}">
                <a16:creationId xmlns:a16="http://schemas.microsoft.com/office/drawing/2014/main" id="{1E70BA8C-FF4C-4130-9839-27C399A8BD22}"/>
              </a:ext>
            </a:extLst>
          </p:cNvPr>
          <p:cNvSpPr>
            <a:spLocks xmlns:a="http://schemas.openxmlformats.org/drawingml/2006/main" noGrp="1"/>
          </p:cNvSpPr>
          <p:nvPr>
            <p:ph type="title" idx="0"/>
          </p:nvPr>
        </p:nvSpPr>
        <p:spPr>
          <a:xfrm xmlns:a="http://schemas.openxmlformats.org/drawingml/2006/main">
            <a:off x="490250" y="450150"/>
            <a:ext cx="38220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3400"/>
              <a:t>MCP connects your agent to external tools</a:t>
            </a:r>
            <a:endParaRPr sz="3400"/>
          </a:p>
        </p:txBody>
      </p:sp>
      <p:pic>
        <p:nvPicPr>
          <p:cNvPr id="170" name="Google Shape;166;p32"/>
          <p:cNvPicPr>
            <a:picLocks xmlns:a="http://schemas.openxmlformats.org/drawingml/2006/main" noChangeAspect="1"/>
          </p:cNvPicPr>
          <p:nvPr/>
        </p:nvPicPr>
        <p:blipFill>
          <a:blip xmlns:r="http://schemas.openxmlformats.org/officeDocument/2006/relationships" xmlns:a="http://schemas.openxmlformats.org/drawingml/2006/main" r:embed="Rfa8a0085eb314193">
            <a:alphaModFix/>
          </a:blip>
          <a:stretch xmlns:a="http://schemas.openxmlformats.org/drawingml/2006/main">
            <a:fillRect l="0" t="0" r="0" b="0"/>
          </a:stretch>
        </p:blipFill>
        <p:spPr>
          <a:xfrm xmlns:a="http://schemas.openxmlformats.org/drawingml/2006/main">
            <a:off x="4514075" y="1270237"/>
            <a:ext cx="4354352" cy="2450625"/>
          </a:xfrm>
          <a:prstGeom xmlns:a="http://schemas.openxmlformats.org/drawingml/2006/main" prst="rect">
            <a:avLst/>
          </a:prstGeom>
          <a:ln xmlns:a="http://schemas.openxmlformats.org/drawingml/2006/main">
            <a:noFill/>
          </a:ln>
        </p:spPr>
      </p:pic>
      <p:sp>
        <p:nvSpPr>
          <p:cNvPr id="167" name="Google Shape;167;p32">
            <a:extLst xmlns:a="http://schemas.openxmlformats.org/drawingml/2006/main">
              <a:ext uri="{FF2B5EF4-FFF2-40B4-BE49-F238E27FC236}">
                <a16:creationId xmlns:a16="http://schemas.microsoft.com/office/drawing/2014/main" id="{59DC87E2-3713-4281-93A2-F1FD7E99303C}"/>
              </a:ext>
            </a:extLst>
          </p:cNvPr>
          <p:cNvSpPr>
            <a:spLocks xmlns:a="http://schemas.openxmlformats.org/drawingml/2006/main" noGrp="1"/>
          </p:cNvSpPr>
          <p:nvPr/>
        </p:nvSpPr>
        <p:spPr>
          <a:xfrm xmlns:a="http://schemas.openxmlformats.org/drawingml/2006/main">
            <a:off x="546275" y="304650"/>
            <a:ext cx="6454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chemeClr val="dk2"/>
                </a:solidFill>
                <a:latin typeface="Instrument Serif"/>
                <a:ea typeface="Instrument Serif"/>
                <a:cs typeface="Instrument Serif"/>
              </a:rPr>
              <a:t>CONCEPT #3</a:t>
            </a:r>
            <a:endParaRPr sz="1800" b="1">
              <a:solidFill>
                <a:schemeClr val="dk2"/>
              </a:solidFill>
              <a:latin typeface="Instrument Serif"/>
              <a:ea typeface="Instrument Serif"/>
              <a:cs typeface="Instrument Serif"/>
            </a:endParaRPr>
          </a:p>
        </p:txBody>
      </p:sp>
    </p:spTree>
    <p:extLst>
      <p:ext uri="{BB962C8B-B14F-4D97-AF65-F5344CB8AC3E}">
        <p14:creationId xmlns:p14="http://schemas.microsoft.com/office/powerpoint/2010/main" val="75022433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72" name="Google Shape;172;p33">
            <a:extLst xmlns:a="http://schemas.openxmlformats.org/drawingml/2006/main">
              <a:ext uri="{FF2B5EF4-FFF2-40B4-BE49-F238E27FC236}">
                <a16:creationId xmlns:a16="http://schemas.microsoft.com/office/drawing/2014/main" id="{63A7BA3B-20D3-4860-AE9D-F4EF4F9A0B4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MCP Demo</a:t>
            </a:r>
            <a:endParaRPr/>
          </a:p>
        </p:txBody>
      </p:sp>
      <p:sp>
        <p:nvSpPr>
          <p:cNvPr id="173" name="Google Shape;173;p33">
            <a:extLst xmlns:a="http://schemas.openxmlformats.org/drawingml/2006/main">
              <a:ext uri="{FF2B5EF4-FFF2-40B4-BE49-F238E27FC236}">
                <a16:creationId xmlns:a16="http://schemas.microsoft.com/office/drawing/2014/main" id="{47DE481A-CE47-4ED3-A9C8-AE5211C5E7F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spcBef>
                <a:spcPts val="0"/>
              </a:spcBef>
              <a:spcAft>
                <a:spcPts val="0"/>
              </a:spcAft>
              <a:buSzPts val="1800"/>
              <a:buChar char="❏"/>
            </a:pPr>
            <a:r>
              <a:t>Installing an MCP</a:t>
            </a:r>
            <a:endParaRPr/>
          </a:p>
          <a:p xmlns:a="http://schemas.openxmlformats.org/drawingml/2006/main">
            <a:pPr marL="457200" lvl="0" indent="-342900" algn="l">
              <a:spcBef>
                <a:spcPts val="0"/>
              </a:spcBef>
              <a:spcAft>
                <a:spcPts val="0"/>
              </a:spcAft>
              <a:buSzPts val="1800"/>
              <a:buChar char="❏"/>
            </a:pPr>
            <a:r>
              <a:t>Running an MCP</a:t>
            </a:r>
            <a:endParaRPr/>
          </a:p>
        </p:txBody>
      </p:sp>
    </p:spTree>
    <p:extLst>
      <p:ext uri="{BB962C8B-B14F-4D97-AF65-F5344CB8AC3E}">
        <p14:creationId xmlns:p14="http://schemas.microsoft.com/office/powerpoint/2010/main" val="185681493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8" name="Google Shape;178;p34">
            <a:extLst xmlns:a="http://schemas.openxmlformats.org/drawingml/2006/main">
              <a:ext uri="{FF2B5EF4-FFF2-40B4-BE49-F238E27FC236}">
                <a16:creationId xmlns:a16="http://schemas.microsoft.com/office/drawing/2014/main" id="{F3C898F6-BC9F-480F-B342-AF171405D525}"/>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rPr sz="2600"/>
              <a:t>Your Turn:</a:t>
            </a:r>
            <a:endParaRPr sz="2600"/>
          </a:p>
          <a:p xmlns:a="http://schemas.openxmlformats.org/drawingml/2006/main">
            <a:pPr marL="0" lvl="0" indent="0" algn="l">
              <a:spcBef>
                <a:spcPts val="0"/>
              </a:spcBef>
              <a:spcAft>
                <a:spcPts val="0"/>
              </a:spcAft>
              <a:buNone/>
            </a:pPr>
            <a:r>
              <a:t>Push your impeccable design to figma using MCP</a:t>
            </a:r>
            <a:endParaRPr/>
          </a:p>
        </p:txBody>
      </p:sp>
    </p:spTree>
    <p:extLst>
      <p:ext uri="{BB962C8B-B14F-4D97-AF65-F5344CB8AC3E}">
        <p14:creationId xmlns:p14="http://schemas.microsoft.com/office/powerpoint/2010/main" val="15936936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83" name="Google Shape;183;p35">
            <a:extLst xmlns:a="http://schemas.openxmlformats.org/drawingml/2006/main">
              <a:ext uri="{FF2B5EF4-FFF2-40B4-BE49-F238E27FC236}">
                <a16:creationId xmlns:a16="http://schemas.microsoft.com/office/drawing/2014/main" id="{20B28F31-2C71-4422-B76D-EF2CB53EE79C}"/>
              </a:ext>
            </a:extLst>
          </p:cNvPr>
          <p:cNvSpPr>
            <a:spLocks xmlns:a="http://schemas.openxmlformats.org/drawingml/2006/main" noGrp="1"/>
          </p:cNvSpPr>
          <p:nvPr>
            <p:ph type="title" idx="0"/>
          </p:nvPr>
        </p:nvSpPr>
        <p:spPr>
          <a:xfrm xmlns:a="http://schemas.openxmlformats.org/drawingml/2006/main">
            <a:off x="490250" y="450150"/>
            <a:ext cx="38220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rPr sz="3400"/>
              <a:t>Commands</a:t>
            </a:r>
            <a:r>
              <a:rPr sz="3400"/>
              <a:t> are ‘/’ triggered workflows</a:t>
            </a:r>
            <a:endParaRPr sz="3400"/>
          </a:p>
        </p:txBody>
      </p:sp>
      <p:pic>
        <p:nvPicPr>
          <p:cNvPr id="188" name="Google Shape;184;p35"/>
          <p:cNvPicPr>
            <a:picLocks xmlns:a="http://schemas.openxmlformats.org/drawingml/2006/main" noChangeAspect="1"/>
          </p:cNvPicPr>
          <p:nvPr/>
        </p:nvPicPr>
        <p:blipFill>
          <a:blip xmlns:r="http://schemas.openxmlformats.org/officeDocument/2006/relationships" xmlns:a="http://schemas.openxmlformats.org/drawingml/2006/main" r:embed="R7e09cb71625941b8">
            <a:alphaModFix/>
          </a:blip>
          <a:stretch xmlns:a="http://schemas.openxmlformats.org/drawingml/2006/main">
            <a:fillRect l="0" t="0" r="0" b="0"/>
          </a:stretch>
        </p:blipFill>
        <p:spPr>
          <a:xfrm xmlns:a="http://schemas.openxmlformats.org/drawingml/2006/main">
            <a:off x="4312250" y="293150"/>
            <a:ext cx="4527000" cy="4557300"/>
          </a:xfrm>
          <a:prstGeom xmlns:a="http://schemas.openxmlformats.org/drawingml/2006/main" prst="roundRect">
            <a:avLst>
              <a:gd name="adj" fmla="val 5266"/>
            </a:avLst>
          </a:prstGeom>
          <a:ln xmlns:a="http://schemas.openxmlformats.org/drawingml/2006/main">
            <a:noFill/>
          </a:ln>
        </p:spPr>
      </p:pic>
      <p:sp>
        <p:nvSpPr>
          <p:cNvPr id="185" name="Google Shape;185;p35">
            <a:extLst xmlns:a="http://schemas.openxmlformats.org/drawingml/2006/main">
              <a:ext uri="{FF2B5EF4-FFF2-40B4-BE49-F238E27FC236}">
                <a16:creationId xmlns:a16="http://schemas.microsoft.com/office/drawing/2014/main" id="{A4CF95E6-70CB-4532-84A8-2AF5380D0A80}"/>
              </a:ext>
            </a:extLst>
          </p:cNvPr>
          <p:cNvSpPr>
            <a:spLocks xmlns:a="http://schemas.openxmlformats.org/drawingml/2006/main" noGrp="1"/>
          </p:cNvSpPr>
          <p:nvPr/>
        </p:nvSpPr>
        <p:spPr>
          <a:xfrm xmlns:a="http://schemas.openxmlformats.org/drawingml/2006/main">
            <a:off x="546275" y="304650"/>
            <a:ext cx="6454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chemeClr val="dk2"/>
                </a:solidFill>
                <a:latin typeface="Instrument Serif"/>
                <a:ea typeface="Instrument Serif"/>
                <a:cs typeface="Instrument Serif"/>
              </a:rPr>
              <a:t>CONCEPT #4</a:t>
            </a:r>
            <a:endParaRPr sz="1800" b="1">
              <a:solidFill>
                <a:schemeClr val="dk2"/>
              </a:solidFill>
              <a:latin typeface="Instrument Serif"/>
              <a:ea typeface="Instrument Serif"/>
              <a:cs typeface="Instrument Serif"/>
            </a:endParaRPr>
          </a:p>
        </p:txBody>
      </p:sp>
    </p:spTree>
    <p:extLst>
      <p:ext uri="{BB962C8B-B14F-4D97-AF65-F5344CB8AC3E}">
        <p14:creationId xmlns:p14="http://schemas.microsoft.com/office/powerpoint/2010/main" val="122905455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93" name="Google Shape;190;p36"/>
          <p:cNvPicPr>
            <a:picLocks xmlns:a="http://schemas.openxmlformats.org/drawingml/2006/main" noChangeAspect="1"/>
          </p:cNvPicPr>
          <p:nvPr/>
        </p:nvPicPr>
        <p:blipFill>
          <a:blip xmlns:r="http://schemas.openxmlformats.org/officeDocument/2006/relationships" xmlns:a="http://schemas.openxmlformats.org/drawingml/2006/main" r:embed="Ra0013ee0f5ba450d">
            <a:alphaModFix/>
          </a:blip>
          <a:stretch xmlns:a="http://schemas.openxmlformats.org/drawingml/2006/main">
            <a:fillRect l="0" t="0" r="0" b="0"/>
          </a:stretch>
        </p:blipFill>
        <p:spPr>
          <a:xfrm xmlns:a="http://schemas.openxmlformats.org/drawingml/2006/main">
            <a:off x="384275" y="445025"/>
            <a:ext cx="7830698" cy="4404775"/>
          </a:xfrm>
          <a:prstGeom xmlns:a="http://schemas.openxmlformats.org/drawingml/2006/main" prst="rect">
            <a:avLst/>
          </a:prstGeom>
          <a:ln xmlns:a="http://schemas.openxmlformats.org/drawingml/2006/main">
            <a:noFill/>
          </a:ln>
        </p:spPr>
      </p:pic>
      <p:sp>
        <p:nvSpPr>
          <p:cNvPr id="191" name="Google Shape;191;p36">
            <a:extLst xmlns:a="http://schemas.openxmlformats.org/drawingml/2006/main">
              <a:ext uri="{FF2B5EF4-FFF2-40B4-BE49-F238E27FC236}">
                <a16:creationId xmlns:a16="http://schemas.microsoft.com/office/drawing/2014/main" id="{F613EDD2-8AFC-4DAD-8466-E086892709A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/goal</a:t>
            </a:r>
            <a:endParaRPr/>
          </a:p>
        </p:txBody>
      </p:sp>
    </p:spTree>
    <p:extLst>
      <p:ext uri="{BB962C8B-B14F-4D97-AF65-F5344CB8AC3E}">
        <p14:creationId xmlns:p14="http://schemas.microsoft.com/office/powerpoint/2010/main" val="17319168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96" name="Google Shape;196;p37">
            <a:extLst xmlns:a="http://schemas.openxmlformats.org/drawingml/2006/main">
              <a:ext uri="{FF2B5EF4-FFF2-40B4-BE49-F238E27FC236}">
                <a16:creationId xmlns:a16="http://schemas.microsoft.com/office/drawing/2014/main" id="{F2DBF80B-E958-4DAB-9C46-33004F190762}"/>
              </a:ext>
            </a:extLst>
          </p:cNvPr>
          <p:cNvSpPr>
            <a:spLocks xmlns:a="http://schemas.openxmlformats.org/drawingml/2006/main" noGrp="1"/>
          </p:cNvSpPr>
          <p:nvPr>
            <p:ph type="title" idx="4294967295"/>
          </p:nvPr>
        </p:nvSpPr>
        <p:spPr>
          <a:xfrm xmlns:a="http://schemas.openxmlformats.org/drawingml/2006/main">
            <a:off x="490250" y="1966800"/>
            <a:ext cx="2940900" cy="12099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lnSpc>
                <a:spcPct val="115000"/>
              </a:lnSpc>
              <a:spcBef>
                <a:spcPts val="0"/>
              </a:spcBef>
              <a:spcAft>
                <a:spcPts val="0"/>
              </a:spcAft>
              <a:buNone/>
            </a:pPr>
            <a:r>
              <a:rPr sz="2900"/>
              <a:t>Make the page look more premium.</a:t>
            </a:r>
            <a:endParaRPr sz="2900"/>
          </a:p>
        </p:txBody>
      </p:sp>
      <p:sp>
        <p:nvSpPr>
          <p:cNvPr id="197" name="Google Shape;197;p37">
            <a:extLst xmlns:a="http://schemas.openxmlformats.org/drawingml/2006/main">
              <a:ext uri="{FF2B5EF4-FFF2-40B4-BE49-F238E27FC236}">
                <a16:creationId xmlns:a16="http://schemas.microsoft.com/office/drawing/2014/main" id="{0D38AB97-2C06-4F17-86EB-6AD0636A61DE}"/>
              </a:ext>
            </a:extLst>
          </p:cNvPr>
          <p:cNvSpPr>
            <a:spLocks xmlns:a="http://schemas.openxmlformats.org/drawingml/2006/main" noGrp="1"/>
          </p:cNvSpPr>
          <p:nvPr>
            <p:ph type="title" idx="4294967295"/>
          </p:nvPr>
        </p:nvSpPr>
        <p:spPr>
          <a:xfrm xmlns:a="http://schemas.openxmlformats.org/drawingml/2006/main">
            <a:off x="4572000" y="1627250"/>
            <a:ext cx="4012800" cy="2151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15000"/>
              </a:lnSpc>
              <a:spcBef>
                <a:spcPts val="0"/>
              </a:spcBef>
              <a:spcAft>
                <a:spcPts val="0"/>
              </a:spcAft>
              <a:buSzPts val="990"/>
              <a:buNone/>
            </a:pPr>
            <a:r>
              <a:rPr sz="2810"/>
              <a:t>Make the main action easy to find, then verify that it works</a:t>
            </a:r>
            <a:endParaRPr sz="2810"/>
          </a:p>
        </p:txBody>
      </p:sp>
      <p:sp>
        <p:nvSpPr>
          <p:cNvPr id="198" name="Google Shape;198;p37">
            <a:extLst xmlns:a="http://schemas.openxmlformats.org/drawingml/2006/main">
              <a:ext uri="{FF2B5EF4-FFF2-40B4-BE49-F238E27FC236}">
                <a16:creationId xmlns:a16="http://schemas.microsoft.com/office/drawing/2014/main" id="{66DCA1E9-ACE5-4A6E-B3C2-50DF40CD428F}"/>
              </a:ext>
            </a:extLst>
          </p:cNvPr>
          <p:cNvSpPr>
            <a:spLocks xmlns:a="http://schemas.openxmlformats.org/drawingml/2006/main" noGrp="1"/>
          </p:cNvSpPr>
          <p:nvPr/>
        </p:nvSpPr>
        <p:spPr>
          <a:xfrm xmlns:a="http://schemas.openxmlformats.org/drawingml/2006/main">
            <a:off x="490250" y="1546325"/>
            <a:ext cx="33723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rgbClr val="FD2746"/>
                </a:solidFill>
                <a:latin typeface="Instrument Serif"/>
                <a:ea typeface="Instrument Serif"/>
                <a:cs typeface="Instrument Serif"/>
              </a:rPr>
              <a:t>Bad Goal</a:t>
            </a:r>
            <a:endParaRPr sz="1800" b="1">
              <a:solidFill>
                <a:srgbClr val="FD2746"/>
              </a:solidFill>
              <a:latin typeface="Instrument Serif"/>
              <a:ea typeface="Instrument Serif"/>
              <a:cs typeface="Instrument Serif"/>
            </a:endParaRPr>
          </a:p>
        </p:txBody>
      </p:sp>
      <p:sp>
        <p:nvSpPr>
          <p:cNvPr id="199" name="Google Shape;199;p37">
            <a:extLst xmlns:a="http://schemas.openxmlformats.org/drawingml/2006/main">
              <a:ext uri="{FF2B5EF4-FFF2-40B4-BE49-F238E27FC236}">
                <a16:creationId xmlns:a16="http://schemas.microsoft.com/office/drawing/2014/main" id="{F957CC45-DA18-4D56-91B4-9A5E7EBC1D9B}"/>
              </a:ext>
            </a:extLst>
          </p:cNvPr>
          <p:cNvSpPr>
            <a:spLocks xmlns:a="http://schemas.openxmlformats.org/drawingml/2006/main" noGrp="1"/>
          </p:cNvSpPr>
          <p:nvPr/>
        </p:nvSpPr>
        <p:spPr>
          <a:xfrm xmlns:a="http://schemas.openxmlformats.org/drawingml/2006/main">
            <a:off x="4572000" y="1165550"/>
            <a:ext cx="33723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rgbClr val="6AA84F"/>
                </a:solidFill>
                <a:latin typeface="Instrument Serif"/>
                <a:ea typeface="Instrument Serif"/>
                <a:cs typeface="Instrument Serif"/>
              </a:rPr>
              <a:t>Good</a:t>
            </a:r>
            <a:r>
              <a:rPr sz="1800" b="1">
                <a:solidFill>
                  <a:srgbClr val="6AA84F"/>
                </a:solidFill>
                <a:latin typeface="Instrument Serif"/>
                <a:ea typeface="Instrument Serif"/>
                <a:cs typeface="Instrument Serif"/>
              </a:rPr>
              <a:t> Goal</a:t>
            </a:r>
            <a:endParaRPr sz="1800" b="1">
              <a:solidFill>
                <a:srgbClr val="6AA84F"/>
              </a:solidFill>
              <a:latin typeface="Instrument Serif"/>
              <a:ea typeface="Instrument Serif"/>
              <a:cs typeface="Instrument Serif"/>
            </a:endParaRPr>
          </a:p>
        </p:txBody>
      </p:sp>
    </p:spTree>
    <p:extLst>
      <p:ext uri="{BB962C8B-B14F-4D97-AF65-F5344CB8AC3E}">
        <p14:creationId xmlns:p14="http://schemas.microsoft.com/office/powerpoint/2010/main" val="169073320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04" name="Google Shape;204;p38">
            <a:extLst xmlns:a="http://schemas.openxmlformats.org/drawingml/2006/main">
              <a:ext uri="{FF2B5EF4-FFF2-40B4-BE49-F238E27FC236}">
                <a16:creationId xmlns:a16="http://schemas.microsoft.com/office/drawing/2014/main" id="{CE920ABF-A53B-439C-8480-A55E5F874B6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Goal Demo</a:t>
            </a:r>
            <a:endParaRPr/>
          </a:p>
        </p:txBody>
      </p:sp>
      <p:sp>
        <p:nvSpPr>
          <p:cNvPr id="205" name="Google Shape;205;p38">
            <a:extLst xmlns:a="http://schemas.openxmlformats.org/drawingml/2006/main">
              <a:ext uri="{FF2B5EF4-FFF2-40B4-BE49-F238E27FC236}">
                <a16:creationId xmlns:a16="http://schemas.microsoft.com/office/drawing/2014/main" id="{614A954E-306D-4803-B980-EC94D859121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spcBef>
                <a:spcPts val="0"/>
              </a:spcBef>
              <a:spcAft>
                <a:spcPts val="0"/>
              </a:spcAft>
              <a:buSzPts val="1800"/>
              <a:buChar char="❏"/>
            </a:pPr>
            <a:r>
              <a:t>Writing a test case &amp; setting up a /goal</a:t>
            </a:r>
            <a:endParaRPr/>
          </a:p>
        </p:txBody>
      </p:sp>
    </p:spTree>
    <p:extLst>
      <p:ext uri="{BB962C8B-B14F-4D97-AF65-F5344CB8AC3E}">
        <p14:creationId xmlns:p14="http://schemas.microsoft.com/office/powerpoint/2010/main" val="77776188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0" name="Google Shape;210;p39">
            <a:extLst xmlns:a="http://schemas.openxmlformats.org/drawingml/2006/main">
              <a:ext uri="{FF2B5EF4-FFF2-40B4-BE49-F238E27FC236}">
                <a16:creationId xmlns:a16="http://schemas.microsoft.com/office/drawing/2014/main" id="{54ECA279-135E-4330-AEC1-EC3F017B5D58}"/>
              </a:ext>
            </a:extLst>
          </p:cNvPr>
          <p:cNvSpPr>
            <a:spLocks xmlns:a="http://schemas.openxmlformats.org/drawingml/2006/main" noGrp="1"/>
          </p:cNvSpPr>
          <p:nvPr>
            <p:ph type="title" idx="0"/>
          </p:nvPr>
        </p:nvSpPr>
        <p:spPr>
          <a:xfrm xmlns:a="http://schemas.openxmlformats.org/drawingml/2006/main">
            <a:off x="490250" y="450150"/>
            <a:ext cx="7948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600"/>
              <a:t>Your turn</a:t>
            </a:r>
            <a:endParaRPr sz="2600"/>
          </a:p>
          <a:p xmlns:a="http://schemas.openxmlformats.org/drawingml/2006/main">
            <a:pPr marL="0" lvl="0" indent="0" algn="l">
              <a:spcBef>
                <a:spcPts val="0"/>
              </a:spcBef>
              <a:spcAft>
                <a:spcPts val="0"/>
              </a:spcAft>
              <a:buNone/>
            </a:pPr>
            <a:r>
              <a:rPr sz="4200"/>
              <a:t>Improve one action, then check it again</a:t>
            </a:r>
            <a:endParaRPr sz="4200"/>
          </a:p>
        </p:txBody>
      </p:sp>
    </p:spTree>
    <p:extLst>
      <p:ext uri="{BB962C8B-B14F-4D97-AF65-F5344CB8AC3E}">
        <p14:creationId xmlns:p14="http://schemas.microsoft.com/office/powerpoint/2010/main" val="130642305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19" name="Google Shape;215;p40"/>
          <p:cNvPicPr>
            <a:picLocks xmlns:a="http://schemas.openxmlformats.org/drawingml/2006/main" noChangeAspect="1"/>
          </p:cNvPicPr>
          <p:nvPr/>
        </p:nvPicPr>
        <p:blipFill>
          <a:blip xmlns:r="http://schemas.openxmlformats.org/officeDocument/2006/relationships" xmlns:a="http://schemas.openxmlformats.org/drawingml/2006/main" r:embed="R3f3bf86377274463">
            <a:alphaModFix/>
          </a:blip>
          <a:stretch xmlns:a="http://schemas.openxmlformats.org/drawingml/2006/main">
            <a:fillRect l="0" t="0" r="0" b="0"/>
          </a:stretch>
        </p:blipFill>
        <p:spPr>
          <a:xfrm xmlns:a="http://schemas.openxmlformats.org/drawingml/2006/main">
            <a:off x="3395150" y="909775"/>
            <a:ext cx="5638298" cy="3171550"/>
          </a:xfrm>
          <a:prstGeom xmlns:a="http://schemas.openxmlformats.org/drawingml/2006/main" prst="rect">
            <a:avLst/>
          </a:prstGeom>
          <a:ln xmlns:a="http://schemas.openxmlformats.org/drawingml/2006/main">
            <a:noFill/>
          </a:ln>
        </p:spPr>
      </p:pic>
      <p:sp>
        <p:nvSpPr>
          <p:cNvPr id="216" name="Google Shape;216;p40">
            <a:extLst xmlns:a="http://schemas.openxmlformats.org/drawingml/2006/main">
              <a:ext uri="{FF2B5EF4-FFF2-40B4-BE49-F238E27FC236}">
                <a16:creationId xmlns:a16="http://schemas.microsoft.com/office/drawing/2014/main" id="{3A53A788-845A-4080-8501-554B41EF3062}"/>
              </a:ext>
            </a:extLst>
          </p:cNvPr>
          <p:cNvSpPr>
            <a:spLocks xmlns:a="http://schemas.openxmlformats.org/drawingml/2006/main" noGrp="1"/>
          </p:cNvSpPr>
          <p:nvPr>
            <p:ph type="title" idx="0"/>
          </p:nvPr>
        </p:nvSpPr>
        <p:spPr>
          <a:xfrm xmlns:a="http://schemas.openxmlformats.org/drawingml/2006/main">
            <a:off x="490250" y="450150"/>
            <a:ext cx="36345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900"/>
              <a:t>Plugins package skills and tool connections</a:t>
            </a:r>
            <a:endParaRPr sz="2900"/>
          </a:p>
        </p:txBody>
      </p:sp>
      <p:sp>
        <p:nvSpPr>
          <p:cNvPr id="217" name="Google Shape;217;p40">
            <a:extLst xmlns:a="http://schemas.openxmlformats.org/drawingml/2006/main">
              <a:ext uri="{FF2B5EF4-FFF2-40B4-BE49-F238E27FC236}">
                <a16:creationId xmlns:a16="http://schemas.microsoft.com/office/drawing/2014/main" id="{D134527A-C368-4505-8BFF-155F94366B7A}"/>
              </a:ext>
            </a:extLst>
          </p:cNvPr>
          <p:cNvSpPr>
            <a:spLocks xmlns:a="http://schemas.openxmlformats.org/drawingml/2006/main" noGrp="1"/>
          </p:cNvSpPr>
          <p:nvPr/>
        </p:nvSpPr>
        <p:spPr>
          <a:xfrm xmlns:a="http://schemas.openxmlformats.org/drawingml/2006/main">
            <a:off x="546275" y="304650"/>
            <a:ext cx="64545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800" b="1">
                <a:solidFill>
                  <a:schemeClr val="dk2"/>
                </a:solidFill>
                <a:latin typeface="Instrument Serif"/>
                <a:ea typeface="Instrument Serif"/>
                <a:cs typeface="Instrument Serif"/>
              </a:rPr>
              <a:t>CONCEPT #5</a:t>
            </a:r>
            <a:endParaRPr sz="1800" b="1">
              <a:solidFill>
                <a:schemeClr val="dk2"/>
              </a:solidFill>
              <a:latin typeface="Instrument Serif"/>
              <a:ea typeface="Instrument Serif"/>
              <a:cs typeface="Instrument Serif"/>
            </a:endParaRPr>
          </a:p>
        </p:txBody>
      </p:sp>
    </p:spTree>
    <p:extLst>
      <p:ext uri="{BB962C8B-B14F-4D97-AF65-F5344CB8AC3E}">
        <p14:creationId xmlns:p14="http://schemas.microsoft.com/office/powerpoint/2010/main" val="69531074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41">
            <a:extLst xmlns:a="http://schemas.openxmlformats.org/drawingml/2006/main">
              <a:ext uri="{FF2B5EF4-FFF2-40B4-BE49-F238E27FC236}">
                <a16:creationId xmlns:a16="http://schemas.microsoft.com/office/drawing/2014/main" id="{4FB256D3-9C68-4551-93F7-F496116017F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Plugin Demo</a:t>
            </a:r>
            <a:endParaRPr/>
          </a:p>
        </p:txBody>
      </p:sp>
      <p:sp>
        <p:nvSpPr>
          <p:cNvPr id="223" name="Google Shape;223;p41">
            <a:extLst xmlns:a="http://schemas.openxmlformats.org/drawingml/2006/main">
              <a:ext uri="{FF2B5EF4-FFF2-40B4-BE49-F238E27FC236}">
                <a16:creationId xmlns:a16="http://schemas.microsoft.com/office/drawing/2014/main" id="{D70746E2-622C-46C4-8ED2-B298CF04552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spcBef>
                <a:spcPts val="0"/>
              </a:spcBef>
              <a:spcAft>
                <a:spcPts val="0"/>
              </a:spcAft>
              <a:buSzPts val="1800"/>
              <a:buChar char="❏"/>
            </a:pPr>
            <a:r>
              <a:t>Installing from plugin marketplace</a:t>
            </a:r>
            <a:endParaRPr/>
          </a:p>
          <a:p xmlns:a="http://schemas.openxmlformats.org/drawingml/2006/main">
            <a:pPr marL="457200" lvl="0" indent="-342900" algn="l">
              <a:spcBef>
                <a:spcPts val="0"/>
              </a:spcBef>
              <a:spcAft>
                <a:spcPts val="0"/>
              </a:spcAft>
              <a:buSzPts val="1800"/>
              <a:buChar char="❏"/>
            </a:pPr>
            <a:r>
              <a:t>Calling a skill from a plugin</a:t>
            </a:r>
            <a:endParaRPr/>
          </a:p>
        </p:txBody>
      </p:sp>
    </p:spTree>
    <p:extLst>
      <p:ext uri="{BB962C8B-B14F-4D97-AF65-F5344CB8AC3E}">
        <p14:creationId xmlns:p14="http://schemas.microsoft.com/office/powerpoint/2010/main" val="2451706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28" name="Google Shape;228;p42">
            <a:extLst xmlns:a="http://schemas.openxmlformats.org/drawingml/2006/main">
              <a:ext uri="{FF2B5EF4-FFF2-40B4-BE49-F238E27FC236}">
                <a16:creationId xmlns:a16="http://schemas.microsoft.com/office/drawing/2014/main" id="{9A152F36-D6EB-4761-9B92-08F1689C3797}"/>
              </a:ext>
            </a:extLst>
          </p:cNvPr>
          <p:cNvSpPr>
            <a:spLocks xmlns:a="http://schemas.openxmlformats.org/drawingml/2006/main" noGrp="1"/>
          </p:cNvSpPr>
          <p:nvPr>
            <p:ph type="title" idx="0"/>
          </p:nvPr>
        </p:nvSpPr>
        <p:spPr>
          <a:xfrm xmlns:a="http://schemas.openxmlformats.org/drawingml/2006/main">
            <a:off x="490250" y="450150"/>
            <a:ext cx="7948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600"/>
              <a:t>Your turn</a:t>
            </a:r>
            <a:endParaRPr sz="2600"/>
          </a:p>
          <a:p xmlns:a="http://schemas.openxmlformats.org/drawingml/2006/main">
            <a:pPr marL="0" lvl="0" indent="0" algn="l">
              <a:spcBef>
                <a:spcPts val="0"/>
              </a:spcBef>
              <a:spcAft>
                <a:spcPts val="0"/>
              </a:spcAft>
              <a:buNone/>
            </a:pPr>
            <a:r>
              <a:rPr sz="4200"/>
              <a:t>Give one animation a useful job</a:t>
            </a:r>
            <a:endParaRPr sz="4200"/>
          </a:p>
        </p:txBody>
      </p:sp>
    </p:spTree>
    <p:extLst>
      <p:ext uri="{BB962C8B-B14F-4D97-AF65-F5344CB8AC3E}">
        <p14:creationId xmlns:p14="http://schemas.microsoft.com/office/powerpoint/2010/main" val="182718069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33" name="Google Shape;233;p43">
            <a:extLst xmlns:a="http://schemas.openxmlformats.org/drawingml/2006/main">
              <a:ext uri="{FF2B5EF4-FFF2-40B4-BE49-F238E27FC236}">
                <a16:creationId xmlns:a16="http://schemas.microsoft.com/office/drawing/2014/main" id="{0464C296-2362-405B-B537-D300DD45025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ctr">
              <a:spcBef>
                <a:spcPts val="0"/>
              </a:spcBef>
              <a:spcAft>
                <a:spcPts val="0"/>
              </a:spcAft>
              <a:buNone/>
            </a:pPr>
            <a:r>
              <a:t>Introduction To Skills</a:t>
            </a:r>
            <a:endParaRPr/>
          </a:p>
        </p:txBody>
      </p:sp>
    </p:spTree>
    <p:extLst>
      <p:ext uri="{BB962C8B-B14F-4D97-AF65-F5344CB8AC3E}">
        <p14:creationId xmlns:p14="http://schemas.microsoft.com/office/powerpoint/2010/main" val="84377308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38" name="Google Shape;238;p44">
            <a:extLst xmlns:a="http://schemas.openxmlformats.org/drawingml/2006/main">
              <a:ext uri="{FF2B5EF4-FFF2-40B4-BE49-F238E27FC236}">
                <a16:creationId xmlns:a16="http://schemas.microsoft.com/office/drawing/2014/main" id="{E90C4EE9-F9BD-4655-B145-2941EE5B691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We just did a few things…</a:t>
            </a:r>
            <a:endParaRPr/>
          </a:p>
        </p:txBody>
      </p:sp>
      <p:sp>
        <p:nvSpPr>
          <p:cNvPr id="239" name="Google Shape;239;p44">
            <a:extLst xmlns:a="http://schemas.openxmlformats.org/drawingml/2006/main">
              <a:ext uri="{FF2B5EF4-FFF2-40B4-BE49-F238E27FC236}">
                <a16:creationId xmlns:a16="http://schemas.microsoft.com/office/drawing/2014/main" id="{EAB663C7-6BD3-4C5A-830D-88F7AEBD877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AutoNum type="arabicPeriod"/>
            </a:pPr>
            <a:r>
              <a:t>You used a skill to change a page</a:t>
            </a:r>
            <a:endParaRPr/>
          </a:p>
          <a:p xmlns:a="http://schemas.openxmlformats.org/drawingml/2006/main">
            <a:pPr marL="457200" lvl="0" indent="-342900" algn="l">
              <a:spcBef>
                <a:spcPts val="0"/>
              </a:spcBef>
              <a:spcAft>
                <a:spcPts val="0"/>
              </a:spcAft>
              <a:buSzPts val="1800"/>
              <a:buAutoNum type="arabicPeriod"/>
            </a:pPr>
            <a:r>
              <a:t>You reviewed the result</a:t>
            </a:r>
            <a:endParaRPr/>
          </a:p>
          <a:p xmlns:a="http://schemas.openxmlformats.org/drawingml/2006/main">
            <a:pPr marL="457200" lvl="0" indent="-342900" algn="l">
              <a:spcBef>
                <a:spcPts val="0"/>
              </a:spcBef>
              <a:spcAft>
                <a:spcPts val="0"/>
              </a:spcAft>
              <a:buSzPts val="1800"/>
              <a:buAutoNum type="arabicPeriod"/>
            </a:pPr>
            <a:r>
              <a:t>Now you will teach your own process</a:t>
            </a:r>
            <a:endParaRPr/>
          </a:p>
        </p:txBody>
      </p:sp>
    </p:spTree>
    <p:extLst>
      <p:ext uri="{BB962C8B-B14F-4D97-AF65-F5344CB8AC3E}">
        <p14:creationId xmlns:p14="http://schemas.microsoft.com/office/powerpoint/2010/main" val="69998206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44" name="Google Shape;244;p45">
            <a:extLst xmlns:a="http://schemas.openxmlformats.org/drawingml/2006/main">
              <a:ext uri="{FF2B5EF4-FFF2-40B4-BE49-F238E27FC236}">
                <a16:creationId xmlns:a16="http://schemas.microsoft.com/office/drawing/2014/main" id="{E4B8BA55-4ED1-4DB0-9705-42F6BEA793BF}"/>
              </a:ext>
            </a:extLst>
          </p:cNvPr>
          <p:cNvSpPr>
            <a:spLocks xmlns:a="http://schemas.openxmlformats.org/drawingml/2006/main" noGrp="1"/>
          </p:cNvSpPr>
          <p:nvPr>
            <p:ph type="title" idx="0"/>
          </p:nvPr>
        </p:nvSpPr>
        <p:spPr>
          <a:xfrm xmlns:a="http://schemas.openxmlformats.org/drawingml/2006/main">
            <a:off x="490250" y="450150"/>
            <a:ext cx="6676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600"/>
              <a:t>Which task would you teach a skill?</a:t>
            </a:r>
            <a:endParaRPr sz="2600"/>
          </a:p>
        </p:txBody>
      </p:sp>
    </p:spTree>
    <p:extLst>
      <p:ext uri="{BB962C8B-B14F-4D97-AF65-F5344CB8AC3E}">
        <p14:creationId xmlns:p14="http://schemas.microsoft.com/office/powerpoint/2010/main" val="130234513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49" name="Google Shape;249;p46">
            <a:extLst xmlns:a="http://schemas.openxmlformats.org/drawingml/2006/main">
              <a:ext uri="{FF2B5EF4-FFF2-40B4-BE49-F238E27FC236}">
                <a16:creationId xmlns:a16="http://schemas.microsoft.com/office/drawing/2014/main" id="{86B89E4E-C755-4F6D-A281-3613798C7893}"/>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ctr">
              <a:spcBef>
                <a:spcPts val="0"/>
              </a:spcBef>
              <a:spcAft>
                <a:spcPts val="0"/>
              </a:spcAft>
              <a:buNone/>
            </a:pPr>
            <a:r>
              <a:t>Productizing yourself</a:t>
            </a:r>
            <a:endParaRPr/>
          </a:p>
        </p:txBody>
      </p:sp>
    </p:spTree>
    <p:extLst>
      <p:ext uri="{BB962C8B-B14F-4D97-AF65-F5344CB8AC3E}">
        <p14:creationId xmlns:p14="http://schemas.microsoft.com/office/powerpoint/2010/main" val="180346498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 name="Google Shape;254;p47"/>
          <p:cNvPicPr>
            <a:picLocks xmlns:a="http://schemas.openxmlformats.org/drawingml/2006/main" noChangeAspect="1"/>
          </p:cNvPicPr>
          <p:nvPr/>
        </p:nvPicPr>
        <p:blipFill>
          <a:blip xmlns:r="http://schemas.openxmlformats.org/officeDocument/2006/relationships" xmlns:a="http://schemas.openxmlformats.org/drawingml/2006/main" r:embed="R9c4e920740dd4c90">
            <a:alphaModFix/>
          </a:blip>
          <a:stretch xmlns:a="http://schemas.openxmlformats.org/drawingml/2006/main">
            <a:fillRect l="0" t="0" r="0" b="0"/>
          </a:stretch>
        </p:blipFill>
        <p:spPr>
          <a:xfrm xmlns:a="http://schemas.openxmlformats.org/drawingml/2006/main">
            <a:off x="273225" y="152400"/>
            <a:ext cx="8597562" cy="48387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766944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2" name="Google Shape;259;p48"/>
          <p:cNvPicPr>
            <a:picLocks xmlns:a="http://schemas.openxmlformats.org/drawingml/2006/main" noChangeAspect="1"/>
          </p:cNvPicPr>
          <p:nvPr/>
        </p:nvPicPr>
        <p:blipFill>
          <a:blip xmlns:r="http://schemas.openxmlformats.org/officeDocument/2006/relationships" xmlns:a="http://schemas.openxmlformats.org/drawingml/2006/main" r:embed="R514e71dfb5424683">
            <a:alphaModFix/>
          </a:blip>
          <a:stretch xmlns:a="http://schemas.openxmlformats.org/drawingml/2006/main">
            <a:fillRect l="0" t="0" r="0" b="0"/>
          </a:stretch>
        </p:blipFill>
        <p:spPr>
          <a:xfrm xmlns:a="http://schemas.openxmlformats.org/drawingml/2006/main">
            <a:off x="380325" y="212675"/>
            <a:ext cx="8383375" cy="47181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607690906"/>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64" name="Google Shape;264;p49">
            <a:extLst xmlns:a="http://schemas.openxmlformats.org/drawingml/2006/main">
              <a:ext uri="{FF2B5EF4-FFF2-40B4-BE49-F238E27FC236}">
                <a16:creationId xmlns:a16="http://schemas.microsoft.com/office/drawing/2014/main" id="{C79FC424-5A96-4CA4-9DE9-C81BB1F1F2C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Anatomy of a Skill File</a:t>
            </a:r>
            <a:endParaRPr/>
          </a:p>
        </p:txBody>
      </p:sp>
      <p:pic>
        <p:nvPicPr>
          <p:cNvPr id="276" name="Google Shape;265;p49"/>
          <p:cNvPicPr>
            <a:picLocks xmlns:a="http://schemas.openxmlformats.org/drawingml/2006/main" noChangeAspect="1"/>
          </p:cNvPicPr>
          <p:nvPr/>
        </p:nvPicPr>
        <p:blipFill rotWithShape="1">
          <a:blip xmlns:r="http://schemas.openxmlformats.org/officeDocument/2006/relationships" xmlns:a="http://schemas.openxmlformats.org/drawingml/2006/main" r:embed="Rb4a798068e714136">
            <a:alphaModFix/>
          </a:blip>
          <a:srcRect xmlns:a="http://schemas.openxmlformats.org/drawingml/2006/main" l="25700" t="11618" r="25700" b="20081"/>
          <a:stretch xmlns:a="http://schemas.openxmlformats.org/drawingml/2006/main"/>
        </p:blipFill>
        <p:spPr>
          <a:xfrm xmlns:a="http://schemas.openxmlformats.org/drawingml/2006/main">
            <a:off x="2806000" y="1183375"/>
            <a:ext cx="3669626" cy="2902674"/>
          </a:xfrm>
          <a:prstGeom xmlns:a="http://schemas.openxmlformats.org/drawingml/2006/main" prst="rect">
            <a:avLst/>
          </a:prstGeom>
          <a:ln xmlns:a="http://schemas.openxmlformats.org/drawingml/2006/main">
            <a:noFill/>
          </a:ln>
        </p:spPr>
      </p:pic>
      <p:cxnSp>
        <p:nvCxnSpPr>
          <p:cNvPr id="277" name="Google Shape;266;p49"/>
          <p:cNvCxnSpPr>
            <a:endCxn xmlns:a="http://schemas.openxmlformats.org/drawingml/2006/main" id="267" idx="3"/>
          </p:cNvCxnSpPr>
          <p:nvPr/>
        </p:nvCxnSpPr>
        <p:spPr>
          <a:xfrm xmlns:a="http://schemas.openxmlformats.org/drawingml/2006/main" rot="10800000">
            <a:off x="1995300" y="2471550"/>
            <a:ext cx="1031700" cy="19800"/>
          </a:xfrm>
          <a:prstGeom xmlns:a="http://schemas.openxmlformats.org/drawingml/2006/main" prst="straightConnector1">
            <a:avLst/>
          </a:prstGeom>
          <a:ln xmlns:a="http://schemas.openxmlformats.org/drawingml/2006/main" w="9525" cap="flat">
            <a:solidFill>
              <a:schemeClr val="dk2"/>
            </a:solidFill>
            <a:prstDash val="solid"/>
            <a:round/>
            <a:headEnd type="oval" w="med" len="med"/>
            <a:tailEnd type="oval" w="med" len="med"/>
          </a:ln>
        </p:spPr>
      </p:cxnSp>
      <p:sp>
        <p:nvSpPr>
          <p:cNvPr id="267" name="Google Shape;267;p49">
            <a:extLst xmlns:a="http://schemas.openxmlformats.org/drawingml/2006/main">
              <a:ext uri="{FF2B5EF4-FFF2-40B4-BE49-F238E27FC236}">
                <a16:creationId xmlns:a16="http://schemas.microsoft.com/office/drawing/2014/main" id="{7C9128C3-6C3D-4646-A108-32507E87A24C}"/>
              </a:ext>
            </a:extLst>
          </p:cNvPr>
          <p:cNvSpPr>
            <a:spLocks xmlns:a="http://schemas.openxmlformats.org/drawingml/2006/main" noGrp="1"/>
          </p:cNvSpPr>
          <p:nvPr/>
        </p:nvSpPr>
        <p:spPr>
          <a:xfrm xmlns:a="http://schemas.openxmlformats.org/drawingml/2006/main">
            <a:off x="387900" y="2271450"/>
            <a:ext cx="1607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b="1">
                <a:solidFill>
                  <a:schemeClr val="dk2"/>
                </a:solidFill>
                <a:latin typeface="Instrument Serif"/>
                <a:ea typeface="Instrument Serif"/>
                <a:cs typeface="Instrument Serif"/>
              </a:rPr>
              <a:t>instructions / workflow</a:t>
            </a:r>
            <a:endParaRPr b="1">
              <a:solidFill>
                <a:schemeClr val="dk2"/>
              </a:solidFill>
              <a:latin typeface="Instrument Serif"/>
              <a:ea typeface="Instrument Serif"/>
              <a:cs typeface="Instrument Serif"/>
            </a:endParaRPr>
          </a:p>
        </p:txBody>
      </p:sp>
      <p:sp>
        <p:nvSpPr>
          <p:cNvPr id="268" name="Google Shape;268;p49">
            <a:extLst xmlns:a="http://schemas.openxmlformats.org/drawingml/2006/main">
              <a:ext uri="{FF2B5EF4-FFF2-40B4-BE49-F238E27FC236}">
                <a16:creationId xmlns:a16="http://schemas.microsoft.com/office/drawing/2014/main" id="{B3D34C24-3871-4561-BAD7-56A279EE8AD8}"/>
              </a:ext>
            </a:extLst>
          </p:cNvPr>
          <p:cNvSpPr>
            <a:spLocks xmlns:a="http://schemas.openxmlformats.org/drawingml/2006/main" noGrp="1"/>
          </p:cNvSpPr>
          <p:nvPr/>
        </p:nvSpPr>
        <p:spPr>
          <a:xfrm xmlns:a="http://schemas.openxmlformats.org/drawingml/2006/main">
            <a:off x="387900" y="3243775"/>
            <a:ext cx="1607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b="1">
                <a:solidFill>
                  <a:schemeClr val="dk2"/>
                </a:solidFill>
                <a:latin typeface="Instrument Serif"/>
                <a:ea typeface="Instrument Serif"/>
                <a:cs typeface="Instrument Serif"/>
              </a:rPr>
              <a:t>repeatable automations</a:t>
            </a:r>
            <a:endParaRPr b="1">
              <a:solidFill>
                <a:schemeClr val="dk2"/>
              </a:solidFill>
              <a:latin typeface="Instrument Serif"/>
              <a:ea typeface="Instrument Serif"/>
              <a:cs typeface="Instrument Serif"/>
            </a:endParaRPr>
          </a:p>
        </p:txBody>
      </p:sp>
      <p:cxnSp>
        <p:nvCxnSpPr>
          <p:cNvPr id="280" name="Google Shape;269;p49"/>
          <p:cNvCxnSpPr>
            <a:endCxn xmlns:a="http://schemas.openxmlformats.org/drawingml/2006/main" id="268" idx="3"/>
          </p:cNvCxnSpPr>
          <p:nvPr/>
        </p:nvCxnSpPr>
        <p:spPr>
          <a:xfrm xmlns:a="http://schemas.openxmlformats.org/drawingml/2006/main" rot="10800000">
            <a:off x="1995300" y="3443875"/>
            <a:ext cx="1031700" cy="0"/>
          </a:xfrm>
          <a:prstGeom xmlns:a="http://schemas.openxmlformats.org/drawingml/2006/main" prst="straightConnector1">
            <a:avLst/>
          </a:prstGeom>
          <a:ln xmlns:a="http://schemas.openxmlformats.org/drawingml/2006/main" w="9525" cap="flat">
            <a:solidFill>
              <a:schemeClr val="dk2"/>
            </a:solidFill>
            <a:prstDash val="solid"/>
            <a:round/>
            <a:headEnd type="oval" w="med" len="med"/>
            <a:tailEnd type="oval" w="med" len="med"/>
          </a:ln>
        </p:spPr>
      </p:cxnSp>
      <p:sp>
        <p:nvSpPr>
          <p:cNvPr id="270" name="Google Shape;270;p49">
            <a:extLst xmlns:a="http://schemas.openxmlformats.org/drawingml/2006/main">
              <a:ext uri="{FF2B5EF4-FFF2-40B4-BE49-F238E27FC236}">
                <a16:creationId xmlns:a16="http://schemas.microsoft.com/office/drawing/2014/main" id="{60297735-40DD-4B98-ABF5-EDD8D59365D0}"/>
              </a:ext>
            </a:extLst>
          </p:cNvPr>
          <p:cNvSpPr>
            <a:spLocks xmlns:a="http://schemas.openxmlformats.org/drawingml/2006/main" noGrp="1"/>
          </p:cNvSpPr>
          <p:nvPr/>
        </p:nvSpPr>
        <p:spPr>
          <a:xfrm xmlns:a="http://schemas.openxmlformats.org/drawingml/2006/main">
            <a:off x="6678375" y="2271450"/>
            <a:ext cx="21540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b="1">
                <a:solidFill>
                  <a:schemeClr val="dk2"/>
                </a:solidFill>
                <a:latin typeface="Instrument Serif"/>
                <a:ea typeface="Instrument Serif"/>
                <a:cs typeface="Instrument Serif"/>
              </a:rPr>
              <a:t>deeper docs, examples, API notes</a:t>
            </a:r>
            <a:endParaRPr b="1">
              <a:solidFill>
                <a:schemeClr val="dk2"/>
              </a:solidFill>
              <a:latin typeface="Instrument Serif"/>
              <a:ea typeface="Instrument Serif"/>
              <a:cs typeface="Instrument Serif"/>
            </a:endParaRPr>
          </a:p>
        </p:txBody>
      </p:sp>
      <p:cxnSp>
        <p:nvCxnSpPr>
          <p:cNvPr id="282" name="Google Shape;271;p49"/>
          <p:cNvCxnSpPr>
            <a:stCxn xmlns:a="http://schemas.openxmlformats.org/drawingml/2006/main" id="270" idx="1"/>
          </p:cNvCxnSpPr>
          <p:nvPr/>
        </p:nvCxnSpPr>
        <p:spPr>
          <a:xfrm xmlns:a="http://schemas.openxmlformats.org/drawingml/2006/main" rot="10800000">
            <a:off x="5854875" y="2471550"/>
            <a:ext cx="823500" cy="0"/>
          </a:xfrm>
          <a:prstGeom xmlns:a="http://schemas.openxmlformats.org/drawingml/2006/main" prst="straightConnector1">
            <a:avLst/>
          </a:prstGeom>
          <a:ln xmlns:a="http://schemas.openxmlformats.org/drawingml/2006/main" w="9525" cap="flat">
            <a:solidFill>
              <a:schemeClr val="dk2"/>
            </a:solidFill>
            <a:prstDash val="solid"/>
            <a:round/>
            <a:headEnd type="oval" w="med" len="med"/>
            <a:tailEnd type="oval" w="med" len="med"/>
          </a:ln>
        </p:spPr>
      </p:cxnSp>
      <p:sp>
        <p:nvSpPr>
          <p:cNvPr id="272" name="Google Shape;272;p49">
            <a:extLst xmlns:a="http://schemas.openxmlformats.org/drawingml/2006/main">
              <a:ext uri="{FF2B5EF4-FFF2-40B4-BE49-F238E27FC236}">
                <a16:creationId xmlns:a16="http://schemas.microsoft.com/office/drawing/2014/main" id="{024CC2D2-12B4-43CE-A9BF-43061B1F5BDE}"/>
              </a:ext>
            </a:extLst>
          </p:cNvPr>
          <p:cNvSpPr>
            <a:spLocks xmlns:a="http://schemas.openxmlformats.org/drawingml/2006/main" noGrp="1"/>
          </p:cNvSpPr>
          <p:nvPr/>
        </p:nvSpPr>
        <p:spPr>
          <a:xfrm xmlns:a="http://schemas.openxmlformats.org/drawingml/2006/main">
            <a:off x="6678375" y="3134650"/>
            <a:ext cx="21540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b="1">
                <a:solidFill>
                  <a:schemeClr val="dk2"/>
                </a:solidFill>
                <a:latin typeface="Instrument Serif"/>
                <a:ea typeface="Instrument Serif"/>
                <a:cs typeface="Instrument Serif"/>
              </a:rPr>
              <a:t>templates, images, starter files</a:t>
            </a:r>
            <a:endParaRPr b="1">
              <a:solidFill>
                <a:schemeClr val="dk2"/>
              </a:solidFill>
              <a:latin typeface="Instrument Serif"/>
              <a:ea typeface="Instrument Serif"/>
              <a:cs typeface="Instrument Serif"/>
            </a:endParaRPr>
          </a:p>
        </p:txBody>
      </p:sp>
      <p:cxnSp>
        <p:nvCxnSpPr>
          <p:cNvPr id="284" name="Google Shape;273;p49"/>
          <p:cNvCxnSpPr>
            <a:stCxn xmlns:a="http://schemas.openxmlformats.org/drawingml/2006/main" id="272" idx="1"/>
          </p:cNvCxnSpPr>
          <p:nvPr/>
        </p:nvCxnSpPr>
        <p:spPr>
          <a:xfrm xmlns:a="http://schemas.openxmlformats.org/drawingml/2006/main" rot="10800000">
            <a:off x="5854875" y="3334750"/>
            <a:ext cx="823500" cy="0"/>
          </a:xfrm>
          <a:prstGeom xmlns:a="http://schemas.openxmlformats.org/drawingml/2006/main" prst="straightConnector1">
            <a:avLst/>
          </a:prstGeom>
          <a:ln xmlns:a="http://schemas.openxmlformats.org/drawingml/2006/main" w="9525" cap="flat">
            <a:solidFill>
              <a:schemeClr val="dk2"/>
            </a:solidFill>
            <a:prstDash val="solid"/>
            <a:round/>
            <a:headEnd type="oval" w="med" len="med"/>
            <a:tailEnd type="oval" w="med" len="med"/>
          </a:ln>
        </p:spPr>
      </p:cxnSp>
    </p:spTree>
    <p:extLst>
      <p:ext uri="{BB962C8B-B14F-4D97-AF65-F5344CB8AC3E}">
        <p14:creationId xmlns:p14="http://schemas.microsoft.com/office/powerpoint/2010/main" val="31721303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78" name="Google Shape;278;p50">
            <a:extLst xmlns:a="http://schemas.openxmlformats.org/drawingml/2006/main">
              <a:ext uri="{FF2B5EF4-FFF2-40B4-BE49-F238E27FC236}">
                <a16:creationId xmlns:a16="http://schemas.microsoft.com/office/drawing/2014/main" id="{FAD397B9-C102-40BF-8FA8-1C95B21097E9}"/>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rPr sz="2200"/>
              <a:t>A real skill file</a:t>
            </a:r>
            <a:endParaRPr sz="2200"/>
          </a:p>
          <a:p xmlns:a="http://schemas.openxmlformats.org/drawingml/2006/main">
            <a:pPr marL="0" lvl="0" indent="0" algn="l">
              <a:spcBef>
                <a:spcPts val="0"/>
              </a:spcBef>
              <a:spcAft>
                <a:spcPts val="0"/>
              </a:spcAft>
              <a:buNone/>
            </a:pPr>
            <a:r>
              <a:t>The instructions behind the behavior</a:t>
            </a:r>
            <a:endParaRPr/>
          </a:p>
        </p:txBody>
      </p:sp>
    </p:spTree>
    <p:extLst>
      <p:ext uri="{BB962C8B-B14F-4D97-AF65-F5344CB8AC3E}">
        <p14:creationId xmlns:p14="http://schemas.microsoft.com/office/powerpoint/2010/main" val="209106625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83" name="Google Shape;283;p51">
            <a:extLst xmlns:a="http://schemas.openxmlformats.org/drawingml/2006/main">
              <a:ext uri="{FF2B5EF4-FFF2-40B4-BE49-F238E27FC236}">
                <a16:creationId xmlns:a16="http://schemas.microsoft.com/office/drawing/2014/main" id="{22BAD913-9D80-4389-95B3-7805C1393579}"/>
              </a:ext>
            </a:extLst>
          </p:cNvPr>
          <p:cNvSpPr>
            <a:spLocks xmlns:a="http://schemas.openxmlformats.org/drawingml/2006/main" noGrp="1"/>
          </p:cNvSpPr>
          <p:nvPr>
            <p:ph type="title" idx="0"/>
          </p:nvPr>
        </p:nvSpPr>
        <p:spPr>
          <a:xfrm xmlns:a="http://schemas.openxmlformats.org/drawingml/2006/main">
            <a:off x="490250" y="450150"/>
            <a:ext cx="70692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l">
              <a:spcBef>
                <a:spcPts val="0"/>
              </a:spcBef>
              <a:spcAft>
                <a:spcPts val="0"/>
              </a:spcAft>
              <a:buNone/>
            </a:pPr>
            <a:r>
              <a:t>Let’s build a design QA skill</a:t>
            </a:r>
            <a:endParaRPr sz="2200"/>
          </a:p>
        </p:txBody>
      </p:sp>
    </p:spTree>
    <p:extLst>
      <p:ext uri="{BB962C8B-B14F-4D97-AF65-F5344CB8AC3E}">
        <p14:creationId xmlns:p14="http://schemas.microsoft.com/office/powerpoint/2010/main" val="51259235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88" name="Google Shape;288;p52">
            <a:extLst xmlns:a="http://schemas.openxmlformats.org/drawingml/2006/main">
              <a:ext uri="{FF2B5EF4-FFF2-40B4-BE49-F238E27FC236}">
                <a16:creationId xmlns:a16="http://schemas.microsoft.com/office/drawing/2014/main" id="{0188CB4F-40ED-4026-A7BD-BC24BB26CDB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The design QA exercise</a:t>
            </a:r>
            <a:endParaRPr/>
          </a:p>
        </p:txBody>
      </p:sp>
      <p:sp>
        <p:nvSpPr>
          <p:cNvPr id="289" name="Google Shape;289;p52">
            <a:extLst xmlns:a="http://schemas.openxmlformats.org/drawingml/2006/main">
              <a:ext uri="{FF2B5EF4-FFF2-40B4-BE49-F238E27FC236}">
                <a16:creationId xmlns:a16="http://schemas.microsoft.com/office/drawing/2014/main" id="{07E16FF0-385C-4D52-A656-093EFE4E162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Compare a rendered screen with its reference</a:t>
            </a:r>
            <a:endParaRPr/>
          </a:p>
          <a:p xmlns:a="http://schemas.openxmlformats.org/drawingml/2006/main">
            <a:pPr marL="457200" lvl="0" indent="-342900" algn="l">
              <a:spcBef>
                <a:spcPts val="0"/>
              </a:spcBef>
              <a:spcAft>
                <a:spcPts val="0"/>
              </a:spcAft>
              <a:buSzPts val="1800"/>
              <a:buChar char="●"/>
            </a:pPr>
            <a:r>
              <a:t>Show the differences you can verify</a:t>
            </a:r>
            <a:endParaRPr/>
          </a:p>
          <a:p xmlns:a="http://schemas.openxmlformats.org/drawingml/2006/main">
            <a:pPr marL="0" lvl="0" indent="0" algn="l">
              <a:spcBef>
                <a:spcPts val="1200"/>
              </a:spcBef>
              <a:spcAft>
                <a:spcPts val="0"/>
              </a:spcAft>
              <a:buNone/>
            </a:pPr>
            <a:r>
              <a:t>Improve the instructions across three versions</a:t>
            </a:r>
            <a:endParaRPr/>
          </a:p>
        </p:txBody>
      </p:sp>
    </p:spTree>
    <p:extLst>
      <p:ext uri="{BB962C8B-B14F-4D97-AF65-F5344CB8AC3E}">
        <p14:creationId xmlns:p14="http://schemas.microsoft.com/office/powerpoint/2010/main" val="1760818708"/>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94" name="Google Shape;294;p53">
            <a:extLst xmlns:a="http://schemas.openxmlformats.org/drawingml/2006/main">
              <a:ext uri="{FF2B5EF4-FFF2-40B4-BE49-F238E27FC236}">
                <a16:creationId xmlns:a16="http://schemas.microsoft.com/office/drawing/2014/main" id="{DF0E13CA-0CF5-4D48-A263-1A7E295554C6}"/>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t>Let’s one-shot this</a:t>
            </a:r>
            <a:endParaRPr/>
          </a:p>
          <a:p xmlns:a="http://schemas.openxmlformats.org/drawingml/2006/main">
            <a:pPr marL="0" lvl="0" indent="0" algn="l">
              <a:spcBef>
                <a:spcPts val="0"/>
              </a:spcBef>
              <a:spcAft>
                <a:spcPts val="0"/>
              </a:spcAft>
              <a:buClr>
                <a:schemeClr val="dk1"/>
              </a:buClr>
              <a:buSzPts val="1100"/>
              <a:buFont typeface="Arial"/>
              <a:buNone/>
            </a:pPr>
            <a:r>
              <a:rPr sz="2200"/>
              <a:t>Create, run, and review version 1</a:t>
            </a:r>
            <a:endParaRPr/>
          </a:p>
        </p:txBody>
      </p:sp>
    </p:spTree>
    <p:extLst>
      <p:ext uri="{BB962C8B-B14F-4D97-AF65-F5344CB8AC3E}">
        <p14:creationId xmlns:p14="http://schemas.microsoft.com/office/powerpoint/2010/main" val="190492443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99" name="Google Shape;299;p54">
            <a:extLst xmlns:a="http://schemas.openxmlformats.org/drawingml/2006/main">
              <a:ext uri="{FF2B5EF4-FFF2-40B4-BE49-F238E27FC236}">
                <a16:creationId xmlns:a16="http://schemas.microsoft.com/office/drawing/2014/main" id="{C1F212BF-3688-4C0F-9CBC-4CD6DA07766A}"/>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ctr">
              <a:spcBef>
                <a:spcPts val="0"/>
              </a:spcBef>
              <a:spcAft>
                <a:spcPts val="0"/>
              </a:spcAft>
              <a:buNone/>
            </a:pPr>
            <a:r>
              <a:t>Version 2: teach your process</a:t>
            </a:r>
            <a:endParaRPr/>
          </a:p>
        </p:txBody>
      </p:sp>
    </p:spTree>
    <p:extLst>
      <p:ext uri="{BB962C8B-B14F-4D97-AF65-F5344CB8AC3E}">
        <p14:creationId xmlns:p14="http://schemas.microsoft.com/office/powerpoint/2010/main" val="92862242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304" name="Google Shape;304;p55">
            <a:extLst xmlns:a="http://schemas.openxmlformats.org/drawingml/2006/main">
              <a:ext uri="{FF2B5EF4-FFF2-40B4-BE49-F238E27FC236}">
                <a16:creationId xmlns:a16="http://schemas.microsoft.com/office/drawing/2014/main" id="{EE118217-A4CF-42AA-A1AD-34826224F5A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48387"/>
          </a:bodyPr>
          <a:lstStyle xmlns:a="http://schemas.openxmlformats.org/drawingml/2006/main"/>
          <a:p xmlns:a="http://schemas.openxmlformats.org/drawingml/2006/main">
            <a:pPr marL="0" lvl="0" indent="0" algn="l">
              <a:lnSpc>
                <a:spcPct val="115000"/>
              </a:lnSpc>
              <a:spcBef>
                <a:spcPts val="1200"/>
              </a:spcBef>
              <a:spcAft>
                <a:spcPts val="0"/>
              </a:spcAft>
              <a:buClr>
                <a:schemeClr val="dk1"/>
              </a:buClr>
              <a:buSzPct val="39286"/>
              <a:buFont typeface="Arial"/>
              <a:buNone/>
            </a:pPr>
            <a:r>
              <a:t>Advise your intern</a:t>
            </a:r>
            <a:endParaRPr/>
          </a:p>
        </p:txBody>
      </p:sp>
      <p:sp>
        <p:nvSpPr>
          <p:cNvPr id="305" name="Google Shape;305;p55">
            <a:extLst xmlns:a="http://schemas.openxmlformats.org/drawingml/2006/main">
              <a:ext uri="{FF2B5EF4-FFF2-40B4-BE49-F238E27FC236}">
                <a16:creationId xmlns:a16="http://schemas.microsoft.com/office/drawing/2014/main" id="{39894152-FC3E-4964-8824-910F0E6FCD4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Explain the checks you normally leave unsaid</a:t>
            </a:r>
            <a:endParaRPr/>
          </a:p>
        </p:txBody>
      </p:sp>
    </p:spTree>
    <p:extLst>
      <p:ext uri="{BB962C8B-B14F-4D97-AF65-F5344CB8AC3E}">
        <p14:creationId xmlns:p14="http://schemas.microsoft.com/office/powerpoint/2010/main" val="131016782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310" name="Google Shape;310;p56">
            <a:extLst xmlns:a="http://schemas.openxmlformats.org/drawingml/2006/main">
              <a:ext uri="{FF2B5EF4-FFF2-40B4-BE49-F238E27FC236}">
                <a16:creationId xmlns:a16="http://schemas.microsoft.com/office/drawing/2014/main" id="{2177FBC5-B4AE-4FD1-9288-A8979CD9251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48387"/>
          </a:bodyPr>
          <a:lstStyle xmlns:a="http://schemas.openxmlformats.org/drawingml/2006/main"/>
          <a:p xmlns:a="http://schemas.openxmlformats.org/drawingml/2006/main">
            <a:pPr marL="0" lvl="0" indent="0" algn="l">
              <a:lnSpc>
                <a:spcPct val="115000"/>
              </a:lnSpc>
              <a:spcBef>
                <a:spcPts val="1200"/>
              </a:spcBef>
              <a:spcAft>
                <a:spcPts val="0"/>
              </a:spcAft>
              <a:buNone/>
            </a:pPr>
            <a:r>
              <a:t>Watch me work</a:t>
            </a:r>
            <a:endParaRPr/>
          </a:p>
        </p:txBody>
      </p:sp>
      <p:sp>
        <p:nvSpPr>
          <p:cNvPr id="311" name="Google Shape;311;p56">
            <a:extLst xmlns:a="http://schemas.openxmlformats.org/drawingml/2006/main">
              <a:ext uri="{FF2B5EF4-FFF2-40B4-BE49-F238E27FC236}">
                <a16:creationId xmlns:a16="http://schemas.microsoft.com/office/drawing/2014/main" id="{979865D2-29C2-44F4-9D12-DCDF4023A4D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Demonstrate one comparison, then extract the method</a:t>
            </a:r>
            <a:endParaRPr/>
          </a:p>
        </p:txBody>
      </p:sp>
    </p:spTree>
    <p:extLst>
      <p:ext uri="{BB962C8B-B14F-4D97-AF65-F5344CB8AC3E}">
        <p14:creationId xmlns:p14="http://schemas.microsoft.com/office/powerpoint/2010/main" val="210657639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322" name="Google Shape;322;p58">
            <a:extLst xmlns:a="http://schemas.openxmlformats.org/drawingml/2006/main">
              <a:ext uri="{FF2B5EF4-FFF2-40B4-BE49-F238E27FC236}">
                <a16:creationId xmlns:a16="http://schemas.microsoft.com/office/drawing/2014/main" id="{ED83139C-39FA-4875-8A89-551E3025283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Review the checklist before running version 2</a:t>
            </a:r>
            <a:endParaRPr/>
          </a:p>
        </p:txBody>
      </p:sp>
      <p:sp>
        <p:nvSpPr>
          <p:cNvPr id="323" name="Google Shape;323;p58">
            <a:extLst xmlns:a="http://schemas.openxmlformats.org/drawingml/2006/main">
              <a:ext uri="{FF2B5EF4-FFF2-40B4-BE49-F238E27FC236}">
                <a16:creationId xmlns:a16="http://schemas.microsoft.com/office/drawing/2014/main" id="{DB58B20C-799C-4020-AA5C-8E38338E495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List ’em first</a:t>
            </a:r>
            <a:endParaRPr/>
          </a:p>
        </p:txBody>
      </p:sp>
    </p:spTree>
    <p:extLst>
      <p:ext uri="{BB962C8B-B14F-4D97-AF65-F5344CB8AC3E}">
        <p14:creationId xmlns:p14="http://schemas.microsoft.com/office/powerpoint/2010/main" val="1663458643"/>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328" name="Google Shape;328;p59">
            <a:extLst xmlns:a="http://schemas.openxmlformats.org/drawingml/2006/main">
              <a:ext uri="{FF2B5EF4-FFF2-40B4-BE49-F238E27FC236}">
                <a16:creationId xmlns:a16="http://schemas.microsoft.com/office/drawing/2014/main" id="{81DD182A-1ABC-43F1-87E8-C78FA0E8B567}"/>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ctr">
              <a:spcBef>
                <a:spcPts val="0"/>
              </a:spcBef>
              <a:spcAft>
                <a:spcPts val="0"/>
              </a:spcAft>
              <a:buNone/>
            </a:pPr>
            <a:r>
              <a:t>Version 3: make it reusable</a:t>
            </a:r>
            <a:endParaRPr/>
          </a:p>
        </p:txBody>
      </p:sp>
    </p:spTree>
    <p:extLst>
      <p:ext uri="{BB962C8B-B14F-4D97-AF65-F5344CB8AC3E}">
        <p14:creationId xmlns:p14="http://schemas.microsoft.com/office/powerpoint/2010/main" val="101888840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316" name="Google Shape;316;p57">
            <a:extLst xmlns:a="http://schemas.openxmlformats.org/drawingml/2006/main">
              <a:ext uri="{FF2B5EF4-FFF2-40B4-BE49-F238E27FC236}">
                <a16:creationId xmlns:a16="http://schemas.microsoft.com/office/drawing/2014/main" id="{8BA952C6-820D-4E63-85C5-61FB53EA78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Anti-patterns</a:t>
            </a:r>
            <a:endParaRPr/>
          </a:p>
        </p:txBody>
      </p:sp>
      <p:sp>
        <p:nvSpPr>
          <p:cNvPr id="317" name="Google Shape;317;p57">
            <a:extLst xmlns:a="http://schemas.openxmlformats.org/drawingml/2006/main">
              <a:ext uri="{FF2B5EF4-FFF2-40B4-BE49-F238E27FC236}">
                <a16:creationId xmlns:a16="http://schemas.microsoft.com/office/drawing/2014/main" id="{650CD899-7936-440B-A658-6E0169E62DAA}"/>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Show a mistake and teach the replacement behavior</a:t>
            </a:r>
            <a:endParaRPr/>
          </a:p>
        </p:txBody>
      </p:sp>
    </p:spTree>
    <p:extLst>
      <p:ext uri="{BB962C8B-B14F-4D97-AF65-F5344CB8AC3E}">
        <p14:creationId xmlns:p14="http://schemas.microsoft.com/office/powerpoint/2010/main" val="882682125"/>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333" name="Google Shape;333;p60">
            <a:extLst xmlns:a="http://schemas.openxmlformats.org/drawingml/2006/main">
              <a:ext uri="{FF2B5EF4-FFF2-40B4-BE49-F238E27FC236}">
                <a16:creationId xmlns:a16="http://schemas.microsoft.com/office/drawing/2014/main" id="{C1A6A524-3305-4BA9-AE96-CF95683C673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When should this skill run?</a:t>
            </a:r>
            <a:endParaRPr/>
          </a:p>
        </p:txBody>
      </p:sp>
      <p:sp>
        <p:nvSpPr>
          <p:cNvPr id="334" name="Google Shape;334;p60">
            <a:extLst xmlns:a="http://schemas.openxmlformats.org/drawingml/2006/main">
              <a:ext uri="{FF2B5EF4-FFF2-40B4-BE49-F238E27FC236}">
                <a16:creationId xmlns:a16="http://schemas.microsoft.com/office/drawing/2014/main" id="{60FAC50B-2172-4119-BF1B-D951B0BC1D7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Choose an explicit request or a matching task</a:t>
            </a:r>
            <a:endParaRPr/>
          </a:p>
        </p:txBody>
      </p:sp>
    </p:spTree>
    <p:extLst>
      <p:ext uri="{BB962C8B-B14F-4D97-AF65-F5344CB8AC3E}">
        <p14:creationId xmlns:p14="http://schemas.microsoft.com/office/powerpoint/2010/main" val="113445355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339" name="Google Shape;339;p61">
            <a:extLst xmlns:a="http://schemas.openxmlformats.org/drawingml/2006/main">
              <a:ext uri="{FF2B5EF4-FFF2-40B4-BE49-F238E27FC236}">
                <a16:creationId xmlns:a16="http://schemas.microsoft.com/office/drawing/2014/main" id="{EC2C8B3B-CD46-4D11-B625-EFCBA512A1B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The main steps and the references</a:t>
            </a:r>
            <a:endParaRPr/>
          </a:p>
        </p:txBody>
      </p:sp>
      <p:sp>
        <p:nvSpPr>
          <p:cNvPr id="340" name="Google Shape;340;p61">
            <a:extLst xmlns:a="http://schemas.openxmlformats.org/drawingml/2006/main">
              <a:ext uri="{FF2B5EF4-FFF2-40B4-BE49-F238E27FC236}">
                <a16:creationId xmlns:a16="http://schemas.microsoft.com/office/drawing/2014/main" id="{44A57865-5DF1-4C1A-85D5-C25F737B09E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Keep the workflow clear and link detail where it is needed</a:t>
            </a:r>
            <a:endParaRPr/>
          </a:p>
        </p:txBody>
      </p:sp>
    </p:spTree>
    <p:extLst>
      <p:ext uri="{BB962C8B-B14F-4D97-AF65-F5344CB8AC3E}">
        <p14:creationId xmlns:p14="http://schemas.microsoft.com/office/powerpoint/2010/main" val="1780106537"/>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345" name="Google Shape;345;p62">
            <a:extLst xmlns:a="http://schemas.openxmlformats.org/drawingml/2006/main">
              <a:ext uri="{FF2B5EF4-FFF2-40B4-BE49-F238E27FC236}">
                <a16:creationId xmlns:a16="http://schemas.microsoft.com/office/drawing/2014/main" id="{ECD5D268-107B-4F86-8E84-6A8F7B0DB0F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1360"/>
          </a:bodyPr>
          <a:lstStyle xmlns:a="http://schemas.openxmlformats.org/drawingml/2006/main"/>
          <a:p xmlns:a="http://schemas.openxmlformats.org/drawingml/2006/main">
            <a:pPr marL="0" lvl="0" indent="0" algn="l">
              <a:spcBef>
                <a:spcPts val="0"/>
              </a:spcBef>
              <a:spcAft>
                <a:spcPts val="0"/>
              </a:spcAft>
              <a:buNone/>
            </a:pPr>
            <a:r>
              <a:t>Steer and prune</a:t>
            </a:r>
            <a:endParaRPr/>
          </a:p>
        </p:txBody>
      </p:sp>
      <p:sp>
        <p:nvSpPr>
          <p:cNvPr id="346" name="Google Shape;346;p62">
            <a:extLst xmlns:a="http://schemas.openxmlformats.org/drawingml/2006/main">
              <a:ext uri="{FF2B5EF4-FFF2-40B4-BE49-F238E27FC236}">
                <a16:creationId xmlns:a16="http://schemas.microsoft.com/office/drawing/2014/main" id="{29CE2680-E929-42FA-B69B-68C73292A7C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457200" lvl="0" indent="-342900" algn="l">
              <a:spcBef>
                <a:spcPts val="0"/>
              </a:spcBef>
              <a:spcAft>
                <a:spcPts val="0"/>
              </a:spcAft>
              <a:buSzPts val="1800"/>
              <a:buChar char="●"/>
            </a:pPr>
            <a:r>
              <a:t>Keep the instructions that change the behavior</a:t>
            </a:r>
            <a:endParaRPr/>
          </a:p>
        </p:txBody>
      </p:sp>
    </p:spTree>
    <p:extLst>
      <p:ext uri="{BB962C8B-B14F-4D97-AF65-F5344CB8AC3E}">
        <p14:creationId xmlns:p14="http://schemas.microsoft.com/office/powerpoint/2010/main" val="154832100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83" name="Google Shape;283;p51">
            <a:extLst xmlns:a="http://schemas.openxmlformats.org/drawingml/2006/main">
              <a:ext uri="{FF2B5EF4-FFF2-40B4-BE49-F238E27FC236}">
                <a16:creationId xmlns:a16="http://schemas.microsoft.com/office/drawing/2014/main" id="{22BAD913-9D80-4389-95B3-7805C1393579}"/>
              </a:ext>
            </a:extLst>
          </p:cNvPr>
          <p:cNvSpPr>
            <a:spLocks xmlns:a="http://schemas.openxmlformats.org/drawingml/2006/main" noGrp="1"/>
          </p:cNvSpPr>
          <p:nvPr>
            <p:ph type="title" idx="0"/>
          </p:nvPr>
        </p:nvSpPr>
        <p:spPr>
          <a:xfrm xmlns:a="http://schemas.openxmlformats.org/drawingml/2006/main">
            <a:off x="490250" y="450150"/>
            <a:ext cx="7069200" cy="40908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l">
              <a:spcBef>
                <a:spcPts val="0"/>
              </a:spcBef>
              <a:spcAft>
                <a:spcPts val="0"/>
              </a:spcAft>
              <a:buNone/>
            </a:pPr>
            <a:r>
              <a:t>What will you teach your skill next?</a:t>
            </a:r>
            <a:endParaRPr sz="2200"/>
          </a:p>
        </p:txBody>
      </p:sp>
    </p:spTree>
    <p:extLst>
      <p:ext uri="{BB962C8B-B14F-4D97-AF65-F5344CB8AC3E}">
        <p14:creationId xmlns:p14="http://schemas.microsoft.com/office/powerpoint/2010/main" val="51259235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2026-09-08T19:57:46.0440000Z</dcterms:created>
  <dcterms:modified xsi:type="dcterms:W3CDTF">2026-09-08T19:57:46.0440000Z</dcterms:modified>
</coreProperties>
</file>